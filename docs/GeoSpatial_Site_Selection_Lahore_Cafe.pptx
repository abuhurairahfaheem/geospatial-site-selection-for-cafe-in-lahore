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D4DE03E-215E-4B47-9E9C-B524DC3F9C05}">
  <a:tblStyle styleId="{6D4DE03E-215E-4B47-9E9C-B524DC3F9C0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" name="Google Shape;31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5" name="Google Shape;34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6" name="Google Shape;38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Relationship Id="rId5" Type="http://schemas.openxmlformats.org/officeDocument/2006/relationships/image" Target="../media/image13.png"/><Relationship Id="rId6" Type="http://schemas.openxmlformats.org/officeDocument/2006/relationships/image" Target="../media/image30.png"/><Relationship Id="rId7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6.png"/><Relationship Id="rId9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2.png"/><Relationship Id="rId7" Type="http://schemas.openxmlformats.org/officeDocument/2006/relationships/image" Target="../media/image5.png"/><Relationship Id="rId8" Type="http://schemas.openxmlformats.org/officeDocument/2006/relationships/image" Target="../media/image2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11" Type="http://schemas.openxmlformats.org/officeDocument/2006/relationships/image" Target="../media/image19.png"/><Relationship Id="rId10" Type="http://schemas.openxmlformats.org/officeDocument/2006/relationships/image" Target="../media/image11.png"/><Relationship Id="rId12" Type="http://schemas.openxmlformats.org/officeDocument/2006/relationships/image" Target="../media/image1.png"/><Relationship Id="rId9" Type="http://schemas.openxmlformats.org/officeDocument/2006/relationships/image" Target="../media/image27.png"/><Relationship Id="rId5" Type="http://schemas.openxmlformats.org/officeDocument/2006/relationships/image" Target="../media/image9.png"/><Relationship Id="rId6" Type="http://schemas.openxmlformats.org/officeDocument/2006/relationships/image" Target="../media/image40.png"/><Relationship Id="rId7" Type="http://schemas.openxmlformats.org/officeDocument/2006/relationships/image" Target="../media/image12.png"/><Relationship Id="rId8" Type="http://schemas.openxmlformats.org/officeDocument/2006/relationships/image" Target="../media/image3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4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6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6.png"/><Relationship Id="rId4" Type="http://schemas.openxmlformats.org/officeDocument/2006/relationships/image" Target="../media/image29.png"/><Relationship Id="rId5" Type="http://schemas.openxmlformats.org/officeDocument/2006/relationships/image" Target="../media/image22.png"/><Relationship Id="rId6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png"/><Relationship Id="rId4" Type="http://schemas.openxmlformats.org/officeDocument/2006/relationships/image" Target="../media/image2.png"/><Relationship Id="rId5" Type="http://schemas.openxmlformats.org/officeDocument/2006/relationships/image" Target="../media/image31.png"/><Relationship Id="rId6" Type="http://schemas.openxmlformats.org/officeDocument/2006/relationships/image" Target="../media/image30.png"/><Relationship Id="rId7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6.png"/><Relationship Id="rId4" Type="http://schemas.openxmlformats.org/officeDocument/2006/relationships/image" Target="../media/image47.png"/><Relationship Id="rId9" Type="http://schemas.openxmlformats.org/officeDocument/2006/relationships/image" Target="../media/image44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Relationship Id="rId7" Type="http://schemas.openxmlformats.org/officeDocument/2006/relationships/image" Target="../media/image32.png"/><Relationship Id="rId8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294B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icon_hex_teal.png" id="16" name="Google Shape;16;p3"/>
          <p:cNvPicPr preferRelativeResize="0"/>
          <p:nvPr/>
        </p:nvPicPr>
        <p:blipFill rotWithShape="1">
          <a:blip r:embed="rId3">
            <a:alphaModFix amt="16000"/>
          </a:blip>
          <a:srcRect b="0" l="0" r="0" t="0"/>
          <a:stretch/>
        </p:blipFill>
        <p:spPr>
          <a:xfrm>
            <a:off x="7863840" y="3383280"/>
            <a:ext cx="420624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ssets/icon_hex_teal.png" id="17" name="Google Shape;17;p3"/>
          <p:cNvPicPr preferRelativeResize="0"/>
          <p:nvPr/>
        </p:nvPicPr>
        <p:blipFill rotWithShape="1">
          <a:blip r:embed="rId3">
            <a:alphaModFix amt="16000"/>
          </a:blip>
          <a:srcRect b="0" l="0" r="0" t="0"/>
          <a:stretch/>
        </p:blipFill>
        <p:spPr>
          <a:xfrm>
            <a:off x="8430768" y="3383280"/>
            <a:ext cx="420624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ssets/icon_hex_teal.png" id="18" name="Google Shape;18;p3"/>
          <p:cNvPicPr preferRelativeResize="0"/>
          <p:nvPr/>
        </p:nvPicPr>
        <p:blipFill rotWithShape="1">
          <a:blip r:embed="rId3">
            <a:alphaModFix amt="16000"/>
          </a:blip>
          <a:srcRect b="0" l="0" r="0" t="0"/>
          <a:stretch/>
        </p:blipFill>
        <p:spPr>
          <a:xfrm>
            <a:off x="8997696" y="3383280"/>
            <a:ext cx="420624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ssets/icon_hex_teal.png" id="19" name="Google Shape;19;p3"/>
          <p:cNvPicPr preferRelativeResize="0"/>
          <p:nvPr/>
        </p:nvPicPr>
        <p:blipFill rotWithShape="1">
          <a:blip r:embed="rId3">
            <a:alphaModFix amt="16000"/>
          </a:blip>
          <a:srcRect b="0" l="0" r="0" t="0"/>
          <a:stretch/>
        </p:blipFill>
        <p:spPr>
          <a:xfrm>
            <a:off x="9564624" y="3383280"/>
            <a:ext cx="420624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ssets/icon_hex_teal.png" id="20" name="Google Shape;20;p3"/>
          <p:cNvPicPr preferRelativeResize="0"/>
          <p:nvPr/>
        </p:nvPicPr>
        <p:blipFill rotWithShape="1">
          <a:blip r:embed="rId3">
            <a:alphaModFix amt="16000"/>
          </a:blip>
          <a:srcRect b="0" l="0" r="0" t="0"/>
          <a:stretch/>
        </p:blipFill>
        <p:spPr>
          <a:xfrm>
            <a:off x="10131552" y="3383280"/>
            <a:ext cx="420624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ssets/icon_hex_teal.png" id="21" name="Google Shape;21;p3"/>
          <p:cNvPicPr preferRelativeResize="0"/>
          <p:nvPr/>
        </p:nvPicPr>
        <p:blipFill rotWithShape="1">
          <a:blip r:embed="rId3">
            <a:alphaModFix amt="16000"/>
          </a:blip>
          <a:srcRect b="0" l="0" r="0" t="0"/>
          <a:stretch/>
        </p:blipFill>
        <p:spPr>
          <a:xfrm>
            <a:off x="10698480" y="3383280"/>
            <a:ext cx="420624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ssets/icon_hex_teal.png" id="22" name="Google Shape;22;p3"/>
          <p:cNvPicPr preferRelativeResize="0"/>
          <p:nvPr/>
        </p:nvPicPr>
        <p:blipFill rotWithShape="1">
          <a:blip r:embed="rId3">
            <a:alphaModFix amt="16000"/>
          </a:blip>
          <a:srcRect b="0" l="0" r="0" t="0"/>
          <a:stretch/>
        </p:blipFill>
        <p:spPr>
          <a:xfrm>
            <a:off x="8147304" y="3895344"/>
            <a:ext cx="420624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ssets/icon_hex_teal.png" id="23" name="Google Shape;23;p3"/>
          <p:cNvPicPr preferRelativeResize="0"/>
          <p:nvPr/>
        </p:nvPicPr>
        <p:blipFill rotWithShape="1">
          <a:blip r:embed="rId3">
            <a:alphaModFix amt="16000"/>
          </a:blip>
          <a:srcRect b="0" l="0" r="0" t="0"/>
          <a:stretch/>
        </p:blipFill>
        <p:spPr>
          <a:xfrm>
            <a:off x="8714232" y="3895344"/>
            <a:ext cx="420624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ssets/icon_hex_teal.png" id="24" name="Google Shape;24;p3"/>
          <p:cNvPicPr preferRelativeResize="0"/>
          <p:nvPr/>
        </p:nvPicPr>
        <p:blipFill rotWithShape="1">
          <a:blip r:embed="rId3">
            <a:alphaModFix amt="16000"/>
          </a:blip>
          <a:srcRect b="0" l="0" r="0" t="0"/>
          <a:stretch/>
        </p:blipFill>
        <p:spPr>
          <a:xfrm>
            <a:off x="9281160" y="3895344"/>
            <a:ext cx="420624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ssets/icon_hex_teal.png" id="25" name="Google Shape;25;p3"/>
          <p:cNvPicPr preferRelativeResize="0"/>
          <p:nvPr/>
        </p:nvPicPr>
        <p:blipFill rotWithShape="1">
          <a:blip r:embed="rId3">
            <a:alphaModFix amt="16000"/>
          </a:blip>
          <a:srcRect b="0" l="0" r="0" t="0"/>
          <a:stretch/>
        </p:blipFill>
        <p:spPr>
          <a:xfrm>
            <a:off x="9848088" y="3895344"/>
            <a:ext cx="420624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ssets/icon_hex_teal.png" id="26" name="Google Shape;26;p3"/>
          <p:cNvPicPr preferRelativeResize="0"/>
          <p:nvPr/>
        </p:nvPicPr>
        <p:blipFill rotWithShape="1">
          <a:blip r:embed="rId3">
            <a:alphaModFix amt="16000"/>
          </a:blip>
          <a:srcRect b="0" l="0" r="0" t="0"/>
          <a:stretch/>
        </p:blipFill>
        <p:spPr>
          <a:xfrm>
            <a:off x="10415016" y="3895344"/>
            <a:ext cx="420624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ssets/icon_hex_teal.png" id="27" name="Google Shape;27;p3"/>
          <p:cNvPicPr preferRelativeResize="0"/>
          <p:nvPr/>
        </p:nvPicPr>
        <p:blipFill rotWithShape="1">
          <a:blip r:embed="rId3">
            <a:alphaModFix amt="16000"/>
          </a:blip>
          <a:srcRect b="0" l="0" r="0" t="0"/>
          <a:stretch/>
        </p:blipFill>
        <p:spPr>
          <a:xfrm>
            <a:off x="10981944" y="3895344"/>
            <a:ext cx="420624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ssets/icon_hex_teal.png" id="28" name="Google Shape;28;p3"/>
          <p:cNvPicPr preferRelativeResize="0"/>
          <p:nvPr/>
        </p:nvPicPr>
        <p:blipFill rotWithShape="1">
          <a:blip r:embed="rId3">
            <a:alphaModFix amt="16000"/>
          </a:blip>
          <a:srcRect b="0" l="0" r="0" t="0"/>
          <a:stretch/>
        </p:blipFill>
        <p:spPr>
          <a:xfrm>
            <a:off x="7863840" y="4407408"/>
            <a:ext cx="420624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ssets/icon_hex_teal.png" id="29" name="Google Shape;29;p3"/>
          <p:cNvPicPr preferRelativeResize="0"/>
          <p:nvPr/>
        </p:nvPicPr>
        <p:blipFill rotWithShape="1">
          <a:blip r:embed="rId3">
            <a:alphaModFix amt="16000"/>
          </a:blip>
          <a:srcRect b="0" l="0" r="0" t="0"/>
          <a:stretch/>
        </p:blipFill>
        <p:spPr>
          <a:xfrm>
            <a:off x="8430768" y="4407408"/>
            <a:ext cx="420624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ssets/icon_hex_teal.png" id="30" name="Google Shape;30;p3"/>
          <p:cNvPicPr preferRelativeResize="0"/>
          <p:nvPr/>
        </p:nvPicPr>
        <p:blipFill rotWithShape="1">
          <a:blip r:embed="rId3">
            <a:alphaModFix amt="16000"/>
          </a:blip>
          <a:srcRect b="0" l="0" r="0" t="0"/>
          <a:stretch/>
        </p:blipFill>
        <p:spPr>
          <a:xfrm>
            <a:off x="8997696" y="4407408"/>
            <a:ext cx="420624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ssets/icon_hex_teal.png" id="31" name="Google Shape;31;p3"/>
          <p:cNvPicPr preferRelativeResize="0"/>
          <p:nvPr/>
        </p:nvPicPr>
        <p:blipFill rotWithShape="1">
          <a:blip r:embed="rId3">
            <a:alphaModFix amt="16000"/>
          </a:blip>
          <a:srcRect b="0" l="0" r="0" t="0"/>
          <a:stretch/>
        </p:blipFill>
        <p:spPr>
          <a:xfrm>
            <a:off x="9564624" y="4407408"/>
            <a:ext cx="420624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ssets/icon_hex_teal.png" id="32" name="Google Shape;32;p3"/>
          <p:cNvPicPr preferRelativeResize="0"/>
          <p:nvPr/>
        </p:nvPicPr>
        <p:blipFill rotWithShape="1">
          <a:blip r:embed="rId3">
            <a:alphaModFix amt="16000"/>
          </a:blip>
          <a:srcRect b="0" l="0" r="0" t="0"/>
          <a:stretch/>
        </p:blipFill>
        <p:spPr>
          <a:xfrm>
            <a:off x="10131552" y="4407408"/>
            <a:ext cx="420624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ssets/icon_hex_teal.png" id="33" name="Google Shape;33;p3"/>
          <p:cNvPicPr preferRelativeResize="0"/>
          <p:nvPr/>
        </p:nvPicPr>
        <p:blipFill rotWithShape="1">
          <a:blip r:embed="rId3">
            <a:alphaModFix amt="16000"/>
          </a:blip>
          <a:srcRect b="0" l="0" r="0" t="0"/>
          <a:stretch/>
        </p:blipFill>
        <p:spPr>
          <a:xfrm>
            <a:off x="10698480" y="4407408"/>
            <a:ext cx="420624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ssets/icon_hex_teal.png" id="34" name="Google Shape;34;p3"/>
          <p:cNvPicPr preferRelativeResize="0"/>
          <p:nvPr/>
        </p:nvPicPr>
        <p:blipFill rotWithShape="1">
          <a:blip r:embed="rId3">
            <a:alphaModFix amt="16000"/>
          </a:blip>
          <a:srcRect b="0" l="0" r="0" t="0"/>
          <a:stretch/>
        </p:blipFill>
        <p:spPr>
          <a:xfrm>
            <a:off x="8147304" y="4919472"/>
            <a:ext cx="420624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ssets/icon_hex_teal.png" id="35" name="Google Shape;35;p3"/>
          <p:cNvPicPr preferRelativeResize="0"/>
          <p:nvPr/>
        </p:nvPicPr>
        <p:blipFill rotWithShape="1">
          <a:blip r:embed="rId3">
            <a:alphaModFix amt="16000"/>
          </a:blip>
          <a:srcRect b="0" l="0" r="0" t="0"/>
          <a:stretch/>
        </p:blipFill>
        <p:spPr>
          <a:xfrm>
            <a:off x="8714232" y="4919472"/>
            <a:ext cx="420624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ssets/icon_hex_teal.png" id="36" name="Google Shape;36;p3"/>
          <p:cNvPicPr preferRelativeResize="0"/>
          <p:nvPr/>
        </p:nvPicPr>
        <p:blipFill rotWithShape="1">
          <a:blip r:embed="rId3">
            <a:alphaModFix amt="16000"/>
          </a:blip>
          <a:srcRect b="0" l="0" r="0" t="0"/>
          <a:stretch/>
        </p:blipFill>
        <p:spPr>
          <a:xfrm>
            <a:off x="9281160" y="4919472"/>
            <a:ext cx="420624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ssets/icon_hex_teal.png" id="37" name="Google Shape;37;p3"/>
          <p:cNvPicPr preferRelativeResize="0"/>
          <p:nvPr/>
        </p:nvPicPr>
        <p:blipFill rotWithShape="1">
          <a:blip r:embed="rId3">
            <a:alphaModFix amt="16000"/>
          </a:blip>
          <a:srcRect b="0" l="0" r="0" t="0"/>
          <a:stretch/>
        </p:blipFill>
        <p:spPr>
          <a:xfrm>
            <a:off x="9848088" y="4919472"/>
            <a:ext cx="420624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ssets/icon_hex_teal.png" id="38" name="Google Shape;38;p3"/>
          <p:cNvPicPr preferRelativeResize="0"/>
          <p:nvPr/>
        </p:nvPicPr>
        <p:blipFill rotWithShape="1">
          <a:blip r:embed="rId3">
            <a:alphaModFix amt="16000"/>
          </a:blip>
          <a:srcRect b="0" l="0" r="0" t="0"/>
          <a:stretch/>
        </p:blipFill>
        <p:spPr>
          <a:xfrm>
            <a:off x="10415016" y="4919472"/>
            <a:ext cx="420624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ssets/icon_hex_teal.png" id="39" name="Google Shape;39;p3"/>
          <p:cNvPicPr preferRelativeResize="0"/>
          <p:nvPr/>
        </p:nvPicPr>
        <p:blipFill rotWithShape="1">
          <a:blip r:embed="rId3">
            <a:alphaModFix amt="16000"/>
          </a:blip>
          <a:srcRect b="0" l="0" r="0" t="0"/>
          <a:stretch/>
        </p:blipFill>
        <p:spPr>
          <a:xfrm>
            <a:off x="10981944" y="4919472"/>
            <a:ext cx="420624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ssets/icon_hex_amber.png" id="40" name="Google Shape;4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4360" y="566928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3"/>
          <p:cNvSpPr/>
          <p:nvPr/>
        </p:nvSpPr>
        <p:spPr>
          <a:xfrm>
            <a:off x="1078992" y="54864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D8D6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9FD8D6"/>
                </a:solidFill>
                <a:latin typeface="Calibri"/>
                <a:ea typeface="Calibri"/>
                <a:cs typeface="Calibri"/>
                <a:sym typeface="Calibri"/>
              </a:rPr>
              <a:t>LAHORE  ·  CAFÉ VERTICAL  ·  AI SITE SELECTION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594360" y="1965960"/>
            <a:ext cx="96012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GeoSpatial Site Selection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for Cafés in Lahore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594360" y="3703320"/>
            <a:ext cx="78638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D6E5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C9D6E5"/>
                </a:solidFill>
                <a:latin typeface="Calibri"/>
                <a:ea typeface="Calibri"/>
                <a:cs typeface="Calibri"/>
                <a:sym typeface="Calibri"/>
              </a:rPr>
              <a:t>An AI-powered, explainable engine that ranks every neighborhood in Lahore for new café viability — fusing OpenStreetMap, population, and real-estate signals on a hexagonal spatial grid.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" name="Google Shape;44;p3"/>
          <p:cNvCxnSpPr/>
          <p:nvPr/>
        </p:nvCxnSpPr>
        <p:spPr>
          <a:xfrm>
            <a:off x="594360" y="5989320"/>
            <a:ext cx="5669280" cy="0"/>
          </a:xfrm>
          <a:prstGeom prst="straightConnector1">
            <a:avLst/>
          </a:prstGeom>
          <a:noFill/>
          <a:ln cap="flat" cmpd="sng" w="12700">
            <a:solidFill>
              <a:srgbClr val="33507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3"/>
          <p:cNvSpPr/>
          <p:nvPr/>
        </p:nvSpPr>
        <p:spPr>
          <a:xfrm>
            <a:off x="594360" y="612648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D8D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9FD8D6"/>
                </a:solidFill>
                <a:latin typeface="Calibri"/>
                <a:ea typeface="Calibri"/>
                <a:cs typeface="Calibri"/>
                <a:sym typeface="Calibri"/>
              </a:rPr>
              <a:t>Prepared for:  </a:t>
            </a:r>
            <a:r>
              <a:rPr lang="en-US" sz="1200">
                <a:solidFill>
                  <a:srgbClr val="C9D6E5"/>
                </a:solidFill>
                <a:latin typeface="Calibri"/>
                <a:ea typeface="Calibri"/>
                <a:cs typeface="Calibri"/>
                <a:sym typeface="Calibri"/>
              </a:rPr>
              <a:t>Project Presentation (ML)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594360" y="6382512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D8D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9FD8D6"/>
                </a:solidFill>
                <a:latin typeface="Calibri"/>
                <a:ea typeface="Calibri"/>
                <a:cs typeface="Calibri"/>
                <a:sym typeface="Calibri"/>
              </a:rPr>
              <a:t>Prepared by:  </a:t>
            </a:r>
            <a:r>
              <a:rPr b="0" i="0" lang="en-US" sz="1200" u="none" cap="none" strike="noStrike">
                <a:solidFill>
                  <a:srgbClr val="C9D6E5"/>
                </a:solidFill>
                <a:latin typeface="Calibri"/>
                <a:ea typeface="Calibri"/>
                <a:cs typeface="Calibri"/>
                <a:sym typeface="Calibri"/>
              </a:rPr>
              <a:t>Abuhurairah Faheem </a:t>
            </a:r>
            <a:r>
              <a:rPr lang="en-US" sz="1200">
                <a:solidFill>
                  <a:srgbClr val="C9D6E5"/>
                </a:solidFill>
                <a:latin typeface="Calibri"/>
                <a:ea typeface="Calibri"/>
                <a:cs typeface="Calibri"/>
                <a:sym typeface="Calibri"/>
              </a:rPr>
              <a:t>&amp; Muhammad Ammar</a:t>
            </a:r>
            <a:r>
              <a:rPr b="0" i="0" lang="en-US" sz="1200" u="none" cap="none" strike="noStrike">
                <a:solidFill>
                  <a:srgbClr val="C9D6E5"/>
                </a:solidFill>
                <a:latin typeface="Calibri"/>
                <a:ea typeface="Calibri"/>
                <a:cs typeface="Calibri"/>
                <a:sym typeface="Calibri"/>
              </a:rPr>
              <a:t>  ·  ITU Lahore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9052560" y="6382512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F88A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F88AC"/>
                </a:solidFill>
                <a:latin typeface="Calibri"/>
                <a:ea typeface="Calibri"/>
                <a:cs typeface="Calibri"/>
                <a:sym typeface="Calibri"/>
              </a:rPr>
              <a:t>·  </a:t>
            </a:r>
            <a:r>
              <a:rPr lang="en-US" sz="1050">
                <a:solidFill>
                  <a:srgbClr val="6F88AC"/>
                </a:solidFill>
                <a:latin typeface="Calibri"/>
                <a:ea typeface="Calibri"/>
                <a:cs typeface="Calibri"/>
                <a:sym typeface="Calibri"/>
              </a:rPr>
              <a:t>ML Spring 2026 (Semester </a:t>
            </a:r>
            <a:r>
              <a:rPr lang="en-US" sz="1050">
                <a:solidFill>
                  <a:srgbClr val="6F88AC"/>
                </a:solidFill>
                <a:latin typeface="Calibri"/>
                <a:ea typeface="Calibri"/>
                <a:cs typeface="Calibri"/>
                <a:sym typeface="Calibri"/>
              </a:rPr>
              <a:t>Project</a:t>
            </a:r>
            <a:r>
              <a:rPr lang="en-US" sz="1050">
                <a:solidFill>
                  <a:srgbClr val="6F88AC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"/>
          <p:cNvSpPr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3294B"/>
                </a:solidFill>
                <a:latin typeface="Cambria"/>
                <a:ea typeface="Cambria"/>
                <a:cs typeface="Cambria"/>
                <a:sym typeface="Cambria"/>
              </a:rPr>
              <a:t>Picking a café location in Lahore is still a guess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548640" y="1371600"/>
            <a:ext cx="6583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B7E"/>
              </a:buClr>
              <a:buSzPts val="1450"/>
              <a:buFont typeface="Calibri"/>
              <a:buNone/>
            </a:pPr>
            <a:r>
              <a:rPr b="0" i="1" lang="en-US" sz="1450" u="none" cap="none" strike="noStrike">
                <a:solidFill>
                  <a:srgbClr val="5B6B7E"/>
                </a:solidFill>
                <a:latin typeface="Calibri"/>
                <a:ea typeface="Calibri"/>
                <a:cs typeface="Calibri"/>
                <a:sym typeface="Calibri"/>
              </a:rPr>
              <a:t>Site selection today relies on gut feeling, word-of-mouth, and whichever commercial plot happens to be available — not on data.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548640" y="2103120"/>
            <a:ext cx="6629400" cy="1207008"/>
          </a:xfrm>
          <a:prstGeom prst="roundRect">
            <a:avLst>
              <a:gd fmla="val 5303" name="adj"/>
            </a:avLst>
          </a:prstGeom>
          <a:solidFill>
            <a:srgbClr val="F7F9FB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777240" y="2340864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_x_red.png" id="58" name="Google Shape;5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120" y="2523744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4"/>
          <p:cNvSpPr/>
          <p:nvPr/>
        </p:nvSpPr>
        <p:spPr>
          <a:xfrm>
            <a:off x="777240" y="2340864"/>
            <a:ext cx="731520" cy="731520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4"/>
          <p:cNvSpPr/>
          <p:nvPr/>
        </p:nvSpPr>
        <p:spPr>
          <a:xfrm>
            <a:off x="777240" y="2340864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_x_red.png" id="61" name="Google Shape;6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7435" y="2531059"/>
            <a:ext cx="351130" cy="35113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4"/>
          <p:cNvSpPr/>
          <p:nvPr/>
        </p:nvSpPr>
        <p:spPr>
          <a:xfrm>
            <a:off x="1691640" y="2249424"/>
            <a:ext cx="5349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No negative examples exist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1691640" y="2578608"/>
            <a:ext cx="53492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B7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B7E"/>
                </a:solidFill>
                <a:latin typeface="Calibri"/>
                <a:ea typeface="Calibri"/>
                <a:cs typeface="Calibri"/>
                <a:sym typeface="Calibri"/>
              </a:rPr>
              <a:t>We only ever see where cafés succeeded. Failed locations are simply removed from the map — there is no labelled "bad site" dataset to learn from.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548640" y="3474720"/>
            <a:ext cx="6629400" cy="1207008"/>
          </a:xfrm>
          <a:prstGeom prst="roundRect">
            <a:avLst>
              <a:gd fmla="val 5303" name="adj"/>
            </a:avLst>
          </a:prstGeom>
          <a:solidFill>
            <a:srgbClr val="F7F9FB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777240" y="3712464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_warning_amber.png" id="66" name="Google Shape;6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0120" y="3895344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4"/>
          <p:cNvSpPr/>
          <p:nvPr/>
        </p:nvSpPr>
        <p:spPr>
          <a:xfrm>
            <a:off x="777240" y="3712464"/>
            <a:ext cx="731520" cy="731520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4"/>
          <p:cNvSpPr/>
          <p:nvPr/>
        </p:nvSpPr>
        <p:spPr>
          <a:xfrm>
            <a:off x="777240" y="3712464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_warning_amber.png" id="69" name="Google Shape;6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7435" y="3902659"/>
            <a:ext cx="351130" cy="35113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4"/>
          <p:cNvSpPr/>
          <p:nvPr/>
        </p:nvSpPr>
        <p:spPr>
          <a:xfrm>
            <a:off x="1691640" y="3621024"/>
            <a:ext cx="5349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Success looks circular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1691640" y="3950208"/>
            <a:ext cx="53492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B7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B7E"/>
                </a:solidFill>
                <a:latin typeface="Calibri"/>
                <a:ea typeface="Calibri"/>
                <a:cs typeface="Calibri"/>
                <a:sym typeface="Calibri"/>
              </a:rPr>
              <a:t>Cafés cluster near other cafés. A naive model just learns "recommend where cafés already are," which finds nothing new.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548640" y="4846320"/>
            <a:ext cx="6629400" cy="1207008"/>
          </a:xfrm>
          <a:prstGeom prst="roundRect">
            <a:avLst>
              <a:gd fmla="val 5303" name="adj"/>
            </a:avLst>
          </a:prstGeom>
          <a:solidFill>
            <a:srgbClr val="F7F9FB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777240" y="5084064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_filter_teal.png" id="74" name="Google Shape;74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0120" y="5266944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4"/>
          <p:cNvSpPr/>
          <p:nvPr/>
        </p:nvSpPr>
        <p:spPr>
          <a:xfrm>
            <a:off x="777240" y="5084064"/>
            <a:ext cx="731520" cy="731520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"/>
          <p:cNvSpPr/>
          <p:nvPr/>
        </p:nvSpPr>
        <p:spPr>
          <a:xfrm>
            <a:off x="777240" y="5084064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_filter_teal.png" id="77" name="Google Shape;77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7435" y="5274259"/>
            <a:ext cx="351130" cy="35113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4"/>
          <p:cNvSpPr/>
          <p:nvPr/>
        </p:nvSpPr>
        <p:spPr>
          <a:xfrm>
            <a:off x="1691640" y="4992624"/>
            <a:ext cx="5349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Land is not always buildable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1691640" y="5321808"/>
            <a:ext cx="53492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B7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B7E"/>
                </a:solidFill>
                <a:latin typeface="Calibri"/>
                <a:ea typeface="Calibri"/>
                <a:cs typeface="Calibri"/>
                <a:sym typeface="Calibri"/>
              </a:rPr>
              <a:t>A statistically perfect hex may sit on a river bank, a graveyard, or restricted land — invisible to a model that only sees foot-traffic data.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7452360" y="1371600"/>
            <a:ext cx="4206240" cy="4892040"/>
          </a:xfrm>
          <a:prstGeom prst="roundRect">
            <a:avLst>
              <a:gd fmla="val 1739" name="adj"/>
            </a:avLst>
          </a:prstGeom>
          <a:solidFill>
            <a:srgbClr val="13294B"/>
          </a:solidFill>
          <a:ln>
            <a:noFill/>
          </a:ln>
          <a:effectLst>
            <a:outerShdw blurRad="127000" rotWithShape="0" algn="bl" dir="5400000" dist="50800">
              <a:srgbClr val="13294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_search_amber.png" id="81" name="Google Shape;81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72400" y="169164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4"/>
          <p:cNvSpPr/>
          <p:nvPr/>
        </p:nvSpPr>
        <p:spPr>
          <a:xfrm>
            <a:off x="8412480" y="1700784"/>
            <a:ext cx="3063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Reframing the question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3" name="Google Shape;83;p4"/>
          <p:cNvCxnSpPr/>
          <p:nvPr/>
        </p:nvCxnSpPr>
        <p:spPr>
          <a:xfrm>
            <a:off x="7772400" y="2377440"/>
            <a:ext cx="3611880" cy="0"/>
          </a:xfrm>
          <a:prstGeom prst="straightConnector1">
            <a:avLst/>
          </a:prstGeom>
          <a:noFill/>
          <a:ln cap="flat" cmpd="sng" w="12700">
            <a:solidFill>
              <a:srgbClr val="33507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" name="Google Shape;84;p4"/>
          <p:cNvSpPr/>
          <p:nvPr/>
        </p:nvSpPr>
        <p:spPr>
          <a:xfrm>
            <a:off x="7772400" y="2606040"/>
            <a:ext cx="3611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4C99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4C99A"/>
                </a:solidFill>
                <a:latin typeface="Calibri"/>
                <a:ea typeface="Calibri"/>
                <a:cs typeface="Calibri"/>
                <a:sym typeface="Calibri"/>
              </a:rPr>
              <a:t>Not:  </a:t>
            </a:r>
            <a:r>
              <a:rPr b="0" i="1" lang="en-US" sz="1300" u="none" cap="none" strike="noStrike">
                <a:solidFill>
                  <a:srgbClr val="C9D6E5"/>
                </a:solidFill>
                <a:latin typeface="Calibri"/>
                <a:ea typeface="Calibri"/>
                <a:cs typeface="Calibri"/>
                <a:sym typeface="Calibri"/>
              </a:rPr>
              <a:t>“Is this hex a café or not?”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7772400" y="3108960"/>
            <a:ext cx="36118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FD8D6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9FD8D6"/>
                </a:solidFill>
                <a:latin typeface="Calibri"/>
                <a:ea typeface="Calibri"/>
                <a:cs typeface="Calibri"/>
                <a:sym typeface="Calibri"/>
              </a:rPr>
              <a:t>Instead:  </a:t>
            </a: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“Given only confirmed successes, how likely is every other hex in the city to support one — and is that land actually buildable?”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6" name="Google Shape;86;p4"/>
          <p:cNvCxnSpPr/>
          <p:nvPr/>
        </p:nvCxnSpPr>
        <p:spPr>
          <a:xfrm>
            <a:off x="7772400" y="4617720"/>
            <a:ext cx="3611880" cy="0"/>
          </a:xfrm>
          <a:prstGeom prst="straightConnector1">
            <a:avLst/>
          </a:prstGeom>
          <a:noFill/>
          <a:ln cap="flat" cmpd="sng" w="12700">
            <a:solidFill>
              <a:srgbClr val="33507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7" name="Google Shape;87;p4"/>
          <p:cNvSpPr/>
          <p:nvPr/>
        </p:nvSpPr>
        <p:spPr>
          <a:xfrm>
            <a:off x="7772400" y="4800600"/>
            <a:ext cx="36118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FD8D6"/>
              </a:buClr>
              <a:buSzPts val="1250"/>
              <a:buFont typeface="Calibri"/>
              <a:buNone/>
            </a:pPr>
            <a:r>
              <a:rPr b="1" i="1" lang="en-US" sz="1250" u="none" cap="none" strike="noStrike">
                <a:solidFill>
                  <a:srgbClr val="9FD8D6"/>
                </a:solidFill>
                <a:latin typeface="Calibri"/>
                <a:ea typeface="Calibri"/>
                <a:cs typeface="Calibri"/>
                <a:sym typeface="Calibri"/>
              </a:rPr>
              <a:t>This is a Positive-Unlabeled (PU) Learning problem, not standard binary classification.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7772400" y="5532120"/>
            <a:ext cx="3611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9D6E5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9D6E5"/>
                </a:solidFill>
                <a:latin typeface="Calibri"/>
                <a:ea typeface="Calibri"/>
                <a:cs typeface="Calibri"/>
                <a:sym typeface="Calibri"/>
              </a:rPr>
              <a:t>...and the right answer must also respect physical and legal land constraints — not just statistics.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E"/>
                </a:solidFill>
                <a:latin typeface="Calibri"/>
                <a:ea typeface="Calibri"/>
                <a:cs typeface="Calibri"/>
                <a:sym typeface="Calibri"/>
              </a:rPr>
              <a:t>GeoSpatial Site Selection — Café Vertical, Lahore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E"/>
                </a:solidFill>
                <a:latin typeface="Calibri"/>
                <a:ea typeface="Calibri"/>
                <a:cs typeface="Calibri"/>
                <a:sym typeface="Calibri"/>
              </a:rPr>
              <a:t>2 /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ssets/icon_hex_teal.png" id="91" name="Google Shape;91;p4"/>
          <p:cNvPicPr preferRelativeResize="0"/>
          <p:nvPr/>
        </p:nvPicPr>
        <p:blipFill rotWithShape="1">
          <a:blip r:embed="rId7">
            <a:alphaModFix amt="60000"/>
          </a:blip>
          <a:srcRect b="0" l="0" r="0" t="0"/>
          <a:stretch/>
        </p:blipFill>
        <p:spPr>
          <a:xfrm>
            <a:off x="457200" y="6437376"/>
            <a:ext cx="128016" cy="12801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4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"/>
          <p:cNvSpPr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THE IDEA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13294B"/>
                </a:solidFill>
                <a:latin typeface="Cambria"/>
                <a:ea typeface="Cambria"/>
                <a:cs typeface="Cambria"/>
                <a:sym typeface="Cambria"/>
              </a:rPr>
              <a:t>One pipeline: raw city data to an explainable shortlist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548640" y="1371600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E"/>
              </a:buClr>
              <a:buSzPts val="1350"/>
              <a:buFont typeface="Calibri"/>
              <a:buNone/>
            </a:pPr>
            <a:r>
              <a:rPr b="0" i="1" lang="en-US" sz="1350" u="none" cap="none" strike="noStrike">
                <a:solidFill>
                  <a:srgbClr val="5B6B7E"/>
                </a:solidFill>
                <a:latin typeface="Calibri"/>
                <a:ea typeface="Calibri"/>
                <a:cs typeface="Calibri"/>
                <a:sym typeface="Calibri"/>
              </a:rPr>
              <a:t>Five connected stages turn ten messy public datasets into a defensible, auditable recommendation — with every output traceable back to the data that produced it.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548640" y="2148840"/>
            <a:ext cx="2084832" cy="3246120"/>
          </a:xfrm>
          <a:prstGeom prst="roundRect">
            <a:avLst>
              <a:gd fmla="val 3509" name="adj"/>
            </a:avLst>
          </a:prstGeom>
          <a:solidFill>
            <a:srgbClr val="1B3A63"/>
          </a:solidFill>
          <a:ln>
            <a:noFill/>
          </a:ln>
          <a:effectLst>
            <a:outerShdw blurRad="101600" rotWithShape="0" algn="bl" dir="5400000" dist="38100">
              <a:srgbClr val="13294B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"/>
          <p:cNvSpPr/>
          <p:nvPr/>
        </p:nvSpPr>
        <p:spPr>
          <a:xfrm>
            <a:off x="713232" y="2404872"/>
            <a:ext cx="17556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86C7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5E86C7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1307592" y="2862072"/>
            <a:ext cx="566928" cy="566928"/>
          </a:xfrm>
          <a:prstGeom prst="ellipse">
            <a:avLst/>
          </a:prstGeom>
          <a:solidFill>
            <a:srgbClr val="1D45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_db_white.png" id="104" name="Google Shape;10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5608" y="2990088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5"/>
          <p:cNvSpPr/>
          <p:nvPr/>
        </p:nvSpPr>
        <p:spPr>
          <a:xfrm>
            <a:off x="685800" y="3611880"/>
            <a:ext cx="181051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Collect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713232" y="3977640"/>
            <a:ext cx="1755648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9D6E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9D6E5"/>
                </a:solidFill>
                <a:latin typeface="Calibri"/>
                <a:ea typeface="Calibri"/>
                <a:cs typeface="Calibri"/>
                <a:sym typeface="Calibri"/>
              </a:rPr>
              <a:t>OpenStreetMap, Kontur population, road network, real-estate rent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2615184" y="358902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E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5B6B7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2798064" y="2148840"/>
            <a:ext cx="2084832" cy="3246120"/>
          </a:xfrm>
          <a:prstGeom prst="roundRect">
            <a:avLst>
              <a:gd fmla="val 3509" name="adj"/>
            </a:avLst>
          </a:prstGeom>
          <a:solidFill>
            <a:srgbClr val="1B3A63"/>
          </a:solidFill>
          <a:ln>
            <a:noFill/>
          </a:ln>
          <a:effectLst>
            <a:outerShdw blurRad="101600" rotWithShape="0" algn="bl" dir="5400000" dist="38100">
              <a:srgbClr val="13294B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"/>
          <p:cNvSpPr/>
          <p:nvPr/>
        </p:nvSpPr>
        <p:spPr>
          <a:xfrm>
            <a:off x="2962656" y="2404872"/>
            <a:ext cx="17556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86C7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5E86C7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3557016" y="2862072"/>
            <a:ext cx="566928" cy="566928"/>
          </a:xfrm>
          <a:prstGeom prst="ellipse">
            <a:avLst/>
          </a:prstGeom>
          <a:solidFill>
            <a:srgbClr val="1D45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_hex_white.png" id="111" name="Google Shape;11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85032" y="2990088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/>
          <p:cNvSpPr/>
          <p:nvPr/>
        </p:nvSpPr>
        <p:spPr>
          <a:xfrm>
            <a:off x="2935224" y="3611880"/>
            <a:ext cx="181051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Grid + Features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2962656" y="3977640"/>
            <a:ext cx="1755648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9D6E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9D6E5"/>
                </a:solidFill>
                <a:latin typeface="Calibri"/>
                <a:ea typeface="Calibri"/>
                <a:cs typeface="Calibri"/>
                <a:sym typeface="Calibri"/>
              </a:rPr>
              <a:t>Hexagonal H3 spatial index, 8 engineered signals per hex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4864608" y="358902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E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5B6B7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5047488" y="2011680"/>
            <a:ext cx="2084832" cy="3520440"/>
          </a:xfrm>
          <a:prstGeom prst="roundRect">
            <a:avLst>
              <a:gd fmla="val 3509" name="adj"/>
            </a:avLst>
          </a:prstGeom>
          <a:solidFill>
            <a:srgbClr val="0E7C7B"/>
          </a:solidFill>
          <a:ln>
            <a:noFill/>
          </a:ln>
          <a:effectLst>
            <a:outerShdw blurRad="101600" rotWithShape="0" algn="bl" dir="5400000" dist="38100">
              <a:srgbClr val="13294B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"/>
          <p:cNvSpPr/>
          <p:nvPr/>
        </p:nvSpPr>
        <p:spPr>
          <a:xfrm>
            <a:off x="5212080" y="2267712"/>
            <a:ext cx="17556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86C7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5E86C7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5806440" y="2724912"/>
            <a:ext cx="566928" cy="566928"/>
          </a:xfrm>
          <a:prstGeom prst="ellipse">
            <a:avLst/>
          </a:prstGeom>
          <a:solidFill>
            <a:srgbClr val="1D45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_brain_white.png" id="118" name="Google Shape;118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34456" y="2852928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5"/>
          <p:cNvSpPr/>
          <p:nvPr/>
        </p:nvSpPr>
        <p:spPr>
          <a:xfrm>
            <a:off x="5184648" y="3474720"/>
            <a:ext cx="181051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Learn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5212080" y="3840480"/>
            <a:ext cx="1755648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9D6E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9D6E5"/>
                </a:solidFill>
                <a:latin typeface="Calibri"/>
                <a:ea typeface="Calibri"/>
                <a:cs typeface="Calibri"/>
                <a:sym typeface="Calibri"/>
              </a:rPr>
              <a:t>PU-learning XGBoost vs. logistic regression baseline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7114032" y="358902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E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5B6B7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7296912" y="2148840"/>
            <a:ext cx="2084832" cy="3246120"/>
          </a:xfrm>
          <a:prstGeom prst="roundRect">
            <a:avLst>
              <a:gd fmla="val 3509" name="adj"/>
            </a:avLst>
          </a:prstGeom>
          <a:solidFill>
            <a:srgbClr val="1B3A63"/>
          </a:solidFill>
          <a:ln>
            <a:noFill/>
          </a:ln>
          <a:effectLst>
            <a:outerShdw blurRad="101600" rotWithShape="0" algn="bl" dir="5400000" dist="38100">
              <a:srgbClr val="13294B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"/>
          <p:cNvSpPr/>
          <p:nvPr/>
        </p:nvSpPr>
        <p:spPr>
          <a:xfrm>
            <a:off x="7461504" y="2404872"/>
            <a:ext cx="17556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86C7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5E86C7"/>
                </a:solidFill>
                <a:latin typeface="Cambria"/>
                <a:ea typeface="Cambria"/>
                <a:cs typeface="Cambria"/>
                <a:sym typeface="Cambria"/>
              </a:rPr>
              <a:t>04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8055864" y="2862072"/>
            <a:ext cx="566928" cy="566928"/>
          </a:xfrm>
          <a:prstGeom prst="ellipse">
            <a:avLst/>
          </a:prstGeom>
          <a:solidFill>
            <a:srgbClr val="1D45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_shield_white.png" id="125" name="Google Shape;125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83880" y="2990088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5"/>
          <p:cNvSpPr/>
          <p:nvPr/>
        </p:nvSpPr>
        <p:spPr>
          <a:xfrm>
            <a:off x="7434072" y="3611880"/>
            <a:ext cx="181051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Mask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7461504" y="3977640"/>
            <a:ext cx="1755648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9D6E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9D6E5"/>
                </a:solidFill>
                <a:latin typeface="Calibri"/>
                <a:ea typeface="Calibri"/>
                <a:cs typeface="Calibri"/>
                <a:sym typeface="Calibri"/>
              </a:rPr>
              <a:t>GIS veto of rivers, graveyards, restricted land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9363456" y="358902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E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5B6B7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9546336" y="2148840"/>
            <a:ext cx="2084832" cy="3246120"/>
          </a:xfrm>
          <a:prstGeom prst="roundRect">
            <a:avLst>
              <a:gd fmla="val 3509" name="adj"/>
            </a:avLst>
          </a:prstGeom>
          <a:solidFill>
            <a:srgbClr val="1B3A63"/>
          </a:solidFill>
          <a:ln>
            <a:noFill/>
          </a:ln>
          <a:effectLst>
            <a:outerShdw blurRad="101600" rotWithShape="0" algn="bl" dir="5400000" dist="38100">
              <a:srgbClr val="13294B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"/>
          <p:cNvSpPr/>
          <p:nvPr/>
        </p:nvSpPr>
        <p:spPr>
          <a:xfrm>
            <a:off x="9710928" y="2404872"/>
            <a:ext cx="17556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86C7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5E86C7"/>
                </a:solidFill>
                <a:latin typeface="Cambria"/>
                <a:ea typeface="Cambria"/>
                <a:cs typeface="Cambria"/>
                <a:sym typeface="Cambria"/>
              </a:rPr>
              <a:t>05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10305288" y="2862072"/>
            <a:ext cx="566928" cy="566928"/>
          </a:xfrm>
          <a:prstGeom prst="ellipse">
            <a:avLst/>
          </a:prstGeom>
          <a:solidFill>
            <a:srgbClr val="1D45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_search_white.png" id="132" name="Google Shape;132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433304" y="2990088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5"/>
          <p:cNvSpPr/>
          <p:nvPr/>
        </p:nvSpPr>
        <p:spPr>
          <a:xfrm>
            <a:off x="9683496" y="3611880"/>
            <a:ext cx="181051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Explain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9710928" y="3977640"/>
            <a:ext cx="1755648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9D6E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9D6E5"/>
                </a:solidFill>
                <a:latin typeface="Calibri"/>
                <a:ea typeface="Calibri"/>
                <a:cs typeface="Calibri"/>
                <a:sym typeface="Calibri"/>
              </a:rPr>
              <a:t>SHAP attributions + interactive map for stakeholders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548640" y="5715000"/>
            <a:ext cx="11091672" cy="713232"/>
          </a:xfrm>
          <a:prstGeom prst="roundRect">
            <a:avLst>
              <a:gd fmla="val 8974" name="adj"/>
            </a:avLst>
          </a:prstGeom>
          <a:solidFill>
            <a:srgbClr val="F8E9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_bulb_amber.png" id="136" name="Google Shape;136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77240" y="5870448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5"/>
          <p:cNvSpPr/>
          <p:nvPr/>
        </p:nvSpPr>
        <p:spPr>
          <a:xfrm>
            <a:off x="1325880" y="5715000"/>
            <a:ext cx="101498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250"/>
              <a:buFont typeface="Calibri"/>
              <a:buNone/>
            </a:pPr>
            <a:r>
              <a:rPr b="1" i="1" lang="en-US" sz="1250" u="none" cap="none" strike="noStrike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Same pipeline generalizes beyond cafés and beyond Lahore — only the ground-truth POI layer and bounding box need to change.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E"/>
                </a:solidFill>
                <a:latin typeface="Calibri"/>
                <a:ea typeface="Calibri"/>
                <a:cs typeface="Calibri"/>
                <a:sym typeface="Calibri"/>
              </a:rPr>
              <a:t>GeoSpatial Site Selection — Café Vertical, Lahore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E"/>
                </a:solidFill>
                <a:latin typeface="Calibri"/>
                <a:ea typeface="Calibri"/>
                <a:cs typeface="Calibri"/>
                <a:sym typeface="Calibri"/>
              </a:rPr>
              <a:t>3 /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ssets/icon_hex_teal.png" id="140" name="Google Shape;140;p5"/>
          <p:cNvPicPr preferRelativeResize="0"/>
          <p:nvPr/>
        </p:nvPicPr>
        <p:blipFill rotWithShape="1">
          <a:blip r:embed="rId9">
            <a:alphaModFix amt="60000"/>
          </a:blip>
          <a:srcRect b="0" l="0" r="0" t="0"/>
          <a:stretch/>
        </p:blipFill>
        <p:spPr>
          <a:xfrm>
            <a:off x="457200" y="6437376"/>
            <a:ext cx="128016" cy="128016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5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"/>
          <p:cNvSpPr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DATA CREATION — SOURCES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3294B"/>
                </a:solidFill>
                <a:latin typeface="Cambria"/>
                <a:ea typeface="Cambria"/>
                <a:cs typeface="Cambria"/>
                <a:sym typeface="Cambria"/>
              </a:rPr>
              <a:t>Ten datasets, one city: building ground truth from scratch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548640" y="1417320"/>
            <a:ext cx="2670048" cy="1783080"/>
          </a:xfrm>
          <a:prstGeom prst="roundRect">
            <a:avLst>
              <a:gd fmla="val 359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3294B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"/>
          <p:cNvSpPr/>
          <p:nvPr/>
        </p:nvSpPr>
        <p:spPr>
          <a:xfrm>
            <a:off x="731520" y="1600200"/>
            <a:ext cx="502920" cy="502920"/>
          </a:xfrm>
          <a:prstGeom prst="ellipse">
            <a:avLst/>
          </a:prstGeom>
          <a:solidFill>
            <a:srgbClr val="E4F1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_coffee_amber.png" id="151" name="Google Shape;15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9536" y="1728216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6"/>
          <p:cNvSpPr/>
          <p:nvPr/>
        </p:nvSpPr>
        <p:spPr>
          <a:xfrm>
            <a:off x="713232" y="2148840"/>
            <a:ext cx="234086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Cafés &amp; Restaurants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713232" y="2459736"/>
            <a:ext cx="234086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B7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B6B7E"/>
                </a:solidFill>
                <a:latin typeface="Calibri"/>
                <a:ea typeface="Calibri"/>
                <a:cs typeface="Calibri"/>
                <a:sym typeface="Calibri"/>
              </a:rPr>
              <a:t>Ground-truth positive class — confirmed venues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713232" y="2889504"/>
            <a:ext cx="234086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275 venues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3328416" y="1417320"/>
            <a:ext cx="2670048" cy="1783080"/>
          </a:xfrm>
          <a:prstGeom prst="roundRect">
            <a:avLst>
              <a:gd fmla="val 359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3294B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"/>
          <p:cNvSpPr/>
          <p:nvPr/>
        </p:nvSpPr>
        <p:spPr>
          <a:xfrm>
            <a:off x="3511296" y="1600200"/>
            <a:ext cx="502920" cy="502920"/>
          </a:xfrm>
          <a:prstGeom prst="ellipse">
            <a:avLst/>
          </a:prstGeom>
          <a:solidFill>
            <a:srgbClr val="E4F1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_users_teal.png" id="157" name="Google Shape;15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39312" y="1728216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6"/>
          <p:cNvSpPr/>
          <p:nvPr/>
        </p:nvSpPr>
        <p:spPr>
          <a:xfrm>
            <a:off x="3493008" y="2148840"/>
            <a:ext cx="234086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Population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3493008" y="2459736"/>
            <a:ext cx="234086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B7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B6B7E"/>
                </a:solidFill>
                <a:latin typeface="Calibri"/>
                <a:ea typeface="Calibri"/>
                <a:cs typeface="Calibri"/>
                <a:sym typeface="Calibri"/>
              </a:rPr>
              <a:t>Kontur H3-gridded population, ~400m cells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3493008" y="2889504"/>
            <a:ext cx="234086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Kontur PK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6108192" y="1417320"/>
            <a:ext cx="2670048" cy="1783080"/>
          </a:xfrm>
          <a:prstGeom prst="roundRect">
            <a:avLst>
              <a:gd fmla="val 359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3294B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"/>
          <p:cNvSpPr/>
          <p:nvPr/>
        </p:nvSpPr>
        <p:spPr>
          <a:xfrm>
            <a:off x="6291072" y="1600200"/>
            <a:ext cx="502920" cy="502920"/>
          </a:xfrm>
          <a:prstGeom prst="ellipse">
            <a:avLst/>
          </a:prstGeom>
          <a:solidFill>
            <a:srgbClr val="E4F1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_building_teal.png" id="163" name="Google Shape;163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19088" y="1728216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6"/>
          <p:cNvSpPr/>
          <p:nvPr/>
        </p:nvSpPr>
        <p:spPr>
          <a:xfrm>
            <a:off x="6272784" y="2148840"/>
            <a:ext cx="234086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Commercial Zones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6272784" y="2459736"/>
            <a:ext cx="234086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B7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B6B7E"/>
                </a:solidFill>
                <a:latin typeface="Calibri"/>
                <a:ea typeface="Calibri"/>
                <a:cs typeface="Calibri"/>
                <a:sym typeface="Calibri"/>
              </a:rPr>
              <a:t>OSM landuse=commercial nodes/ways/relations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6272784" y="2889504"/>
            <a:ext cx="234086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OSM Overpass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8887968" y="1417320"/>
            <a:ext cx="2670048" cy="1783080"/>
          </a:xfrm>
          <a:prstGeom prst="roundRect">
            <a:avLst>
              <a:gd fmla="val 359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3294B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"/>
          <p:cNvSpPr/>
          <p:nvPr/>
        </p:nvSpPr>
        <p:spPr>
          <a:xfrm>
            <a:off x="9070848" y="1600200"/>
            <a:ext cx="502920" cy="502920"/>
          </a:xfrm>
          <a:prstGeom prst="ellipse">
            <a:avLst/>
          </a:prstGeom>
          <a:solidFill>
            <a:srgbClr val="E4F1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_road_teal.png" id="169" name="Google Shape;169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98864" y="1728216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6"/>
          <p:cNvSpPr/>
          <p:nvPr/>
        </p:nvSpPr>
        <p:spPr>
          <a:xfrm>
            <a:off x="9052560" y="2148840"/>
            <a:ext cx="234086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Road Network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9052560" y="2459736"/>
            <a:ext cx="234086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B7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B6B7E"/>
                </a:solidFill>
                <a:latin typeface="Calibri"/>
                <a:ea typeface="Calibri"/>
                <a:cs typeface="Calibri"/>
                <a:sym typeface="Calibri"/>
              </a:rPr>
              <a:t>Weighted by class: primary, secondary, residential…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9052560" y="2889504"/>
            <a:ext cx="234086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Graph + nodes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548640" y="3364992"/>
            <a:ext cx="2670048" cy="1783080"/>
          </a:xfrm>
          <a:prstGeom prst="roundRect">
            <a:avLst>
              <a:gd fmla="val 359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3294B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"/>
          <p:cNvSpPr/>
          <p:nvPr/>
        </p:nvSpPr>
        <p:spPr>
          <a:xfrm>
            <a:off x="731520" y="3547872"/>
            <a:ext cx="502920" cy="502920"/>
          </a:xfrm>
          <a:prstGeom prst="ellipse">
            <a:avLst/>
          </a:prstGeom>
          <a:solidFill>
            <a:srgbClr val="E4F1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_grad_teal.png" id="175" name="Google Shape;175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59536" y="3675888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6"/>
          <p:cNvSpPr/>
          <p:nvPr/>
        </p:nvSpPr>
        <p:spPr>
          <a:xfrm>
            <a:off x="713232" y="4096512"/>
            <a:ext cx="234086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Education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713232" y="4407408"/>
            <a:ext cx="234086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B7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B6B7E"/>
                </a:solidFill>
                <a:latin typeface="Calibri"/>
                <a:ea typeface="Calibri"/>
                <a:cs typeface="Calibri"/>
                <a:sym typeface="Calibri"/>
              </a:rPr>
              <a:t>Universities &amp; colleges — student foot-traffic proxy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713232" y="4837176"/>
            <a:ext cx="234086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OSM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3328416" y="3364992"/>
            <a:ext cx="2670048" cy="1783080"/>
          </a:xfrm>
          <a:prstGeom prst="roundRect">
            <a:avLst>
              <a:gd fmla="val 359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3294B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6"/>
          <p:cNvSpPr/>
          <p:nvPr/>
        </p:nvSpPr>
        <p:spPr>
          <a:xfrm>
            <a:off x="3511296" y="3547872"/>
            <a:ext cx="502920" cy="502920"/>
          </a:xfrm>
          <a:prstGeom prst="ellipse">
            <a:avLst/>
          </a:prstGeom>
          <a:solidFill>
            <a:srgbClr val="E4F1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_parking_teal.png" id="181" name="Google Shape;181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639312" y="3675888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6"/>
          <p:cNvSpPr/>
          <p:nvPr/>
        </p:nvSpPr>
        <p:spPr>
          <a:xfrm>
            <a:off x="3493008" y="4096512"/>
            <a:ext cx="234086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Parking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3493008" y="4407408"/>
            <a:ext cx="234086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B7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B6B7E"/>
                </a:solidFill>
                <a:latin typeface="Calibri"/>
                <a:ea typeface="Calibri"/>
                <a:cs typeface="Calibri"/>
                <a:sym typeface="Calibri"/>
              </a:rPr>
              <a:t>Parking facility locations citywide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3493008" y="4837176"/>
            <a:ext cx="234086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OSM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6108192" y="3364992"/>
            <a:ext cx="2670048" cy="1783080"/>
          </a:xfrm>
          <a:prstGeom prst="roundRect">
            <a:avLst>
              <a:gd fmla="val 359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3294B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6"/>
          <p:cNvSpPr/>
          <p:nvPr/>
        </p:nvSpPr>
        <p:spPr>
          <a:xfrm>
            <a:off x="6291072" y="3547872"/>
            <a:ext cx="502920" cy="502920"/>
          </a:xfrm>
          <a:prstGeom prst="ellipse">
            <a:avLst/>
          </a:prstGeom>
          <a:solidFill>
            <a:srgbClr val="E4F1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_home_teal.png" id="187" name="Google Shape;187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19088" y="3675888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6"/>
          <p:cNvSpPr/>
          <p:nvPr/>
        </p:nvSpPr>
        <p:spPr>
          <a:xfrm>
            <a:off x="6272784" y="4096512"/>
            <a:ext cx="234086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Luxury &amp; Lifestyle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6272784" y="4407408"/>
            <a:ext cx="234086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B7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B6B7E"/>
                </a:solidFill>
                <a:latin typeface="Calibri"/>
                <a:ea typeface="Calibri"/>
                <a:cs typeface="Calibri"/>
                <a:sym typeface="Calibri"/>
              </a:rPr>
              <a:t>Malls, gyms, salons, cinemas — 22 weighted layers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6272784" y="4837176"/>
            <a:ext cx="234086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OSM, 2 passes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8887968" y="3364992"/>
            <a:ext cx="2670048" cy="1783080"/>
          </a:xfrm>
          <a:prstGeom prst="roundRect">
            <a:avLst>
              <a:gd fmla="val 359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3294B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6"/>
          <p:cNvSpPr/>
          <p:nvPr/>
        </p:nvSpPr>
        <p:spPr>
          <a:xfrm>
            <a:off x="9070848" y="3547872"/>
            <a:ext cx="502920" cy="502920"/>
          </a:xfrm>
          <a:prstGeom prst="ellipse">
            <a:avLst/>
          </a:prstGeom>
          <a:solidFill>
            <a:srgbClr val="E4F1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_chart_teal.png" id="193" name="Google Shape;193;p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198864" y="3675888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6"/>
          <p:cNvSpPr/>
          <p:nvPr/>
        </p:nvSpPr>
        <p:spPr>
          <a:xfrm>
            <a:off x="9052560" y="4096512"/>
            <a:ext cx="234086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Rent / Real Estate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9052560" y="4407408"/>
            <a:ext cx="234086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B7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B6B7E"/>
                </a:solidFill>
                <a:latin typeface="Calibri"/>
                <a:ea typeface="Calibri"/>
                <a:cs typeface="Calibri"/>
                <a:sym typeface="Calibri"/>
              </a:rPr>
              <a:t>Zameen &amp; Graana listings — cost &amp; wealth proxy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9052560" y="4837176"/>
            <a:ext cx="234086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Cleaned listings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ssets/icon_shield_teal.png" id="197" name="Google Shape;197;p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48640" y="553212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6"/>
          <p:cNvSpPr/>
          <p:nvPr/>
        </p:nvSpPr>
        <p:spPr>
          <a:xfrm>
            <a:off x="914400" y="5486400"/>
            <a:ext cx="10698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Resilient collection: </a:t>
            </a:r>
            <a:r>
              <a:rPr b="0" i="0" lang="en-US" sz="1150" u="none" cap="none" strike="noStrike">
                <a:solidFill>
                  <a:srgbClr val="5B6B7E"/>
                </a:solidFill>
                <a:latin typeface="Calibri"/>
                <a:ea typeface="Calibri"/>
                <a:cs typeface="Calibri"/>
                <a:sym typeface="Calibri"/>
              </a:rPr>
              <a:t>multi-mirror Overpass fallback, JSON response caching, polite-geocoding with jittered delays and automatic HTTP-429 cooldown — every collector logs to a rotating audit trail.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E"/>
                </a:solidFill>
                <a:latin typeface="Calibri"/>
                <a:ea typeface="Calibri"/>
                <a:cs typeface="Calibri"/>
                <a:sym typeface="Calibri"/>
              </a:rPr>
              <a:t>GeoSpatial Site Selection — Café Vertical, Lahore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E"/>
                </a:solidFill>
                <a:latin typeface="Calibri"/>
                <a:ea typeface="Calibri"/>
                <a:cs typeface="Calibri"/>
                <a:sym typeface="Calibri"/>
              </a:rPr>
              <a:t>4 /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ssets/icon_hex_teal.png" id="201" name="Google Shape;201;p6"/>
          <p:cNvPicPr preferRelativeResize="0"/>
          <p:nvPr/>
        </p:nvPicPr>
        <p:blipFill rotWithShape="1">
          <a:blip r:embed="rId12">
            <a:alphaModFix amt="60000"/>
          </a:blip>
          <a:srcRect b="0" l="0" r="0" t="0"/>
          <a:stretch/>
        </p:blipFill>
        <p:spPr>
          <a:xfrm>
            <a:off x="457200" y="6437376"/>
            <a:ext cx="128016" cy="128016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6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7"/>
          <p:cNvSpPr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METHODOLOGY — SPATIAL INDEX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3294B"/>
                </a:solidFill>
                <a:latin typeface="Cambria"/>
                <a:ea typeface="Cambria"/>
                <a:cs typeface="Cambria"/>
                <a:sym typeface="Cambria"/>
              </a:rPr>
              <a:t>Why hexagons: a fair, uniform unit of analysis for the city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548640" y="1417320"/>
            <a:ext cx="5349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B7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B6B7E"/>
                </a:solidFill>
                <a:latin typeface="Calibri"/>
                <a:ea typeface="Calibri"/>
                <a:cs typeface="Calibri"/>
                <a:sym typeface="Calibri"/>
              </a:rPr>
              <a:t>Lahore has no natural analytical grid — raw coordinates can't be compared, and administrative boundaries are too coarse and irregular for spatial ML.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ssets/icon_hex_amber.png" id="211" name="Google Shape;21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224028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7"/>
          <p:cNvSpPr/>
          <p:nvPr/>
        </p:nvSpPr>
        <p:spPr>
          <a:xfrm>
            <a:off x="914400" y="2212848"/>
            <a:ext cx="50292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Equidistant neighbors — </a:t>
            </a:r>
            <a:r>
              <a:rPr b="0" i="0" lang="en-US" sz="1150" u="none" cap="none" strike="noStrike">
                <a:solidFill>
                  <a:srgbClr val="5B6B7E"/>
                </a:solidFill>
                <a:latin typeface="Calibri"/>
                <a:ea typeface="Calibri"/>
                <a:cs typeface="Calibri"/>
                <a:sym typeface="Calibri"/>
              </a:rPr>
              <a:t>Every hex has 6 neighbors at equal distance — square grids have 4 near + 4 diagonal neighbors at different distances, biasing density math.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ssets/icon_hex_amber.png" id="213" name="Google Shape;21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320040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7"/>
          <p:cNvSpPr/>
          <p:nvPr/>
        </p:nvSpPr>
        <p:spPr>
          <a:xfrm>
            <a:off x="914400" y="3172968"/>
            <a:ext cx="50292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Global, reproducible index — </a:t>
            </a:r>
            <a:r>
              <a:rPr b="0" i="0" lang="en-US" sz="1150" u="none" cap="none" strike="noStrike">
                <a:solidFill>
                  <a:srgbClr val="5B6B7E"/>
                </a:solidFill>
                <a:latin typeface="Calibri"/>
                <a:ea typeface="Calibri"/>
                <a:cs typeface="Calibri"/>
                <a:sym typeface="Calibri"/>
              </a:rPr>
              <a:t>Uber's H3 system gives every cell a fixed string ID (e.g. 89424d07207ffff) — stable across re-runs and resolutions.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ssets/icon_hex_amber.png" id="215" name="Google Shape;21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416052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7"/>
          <p:cNvSpPr/>
          <p:nvPr/>
        </p:nvSpPr>
        <p:spPr>
          <a:xfrm>
            <a:off x="914400" y="4133088"/>
            <a:ext cx="50292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Resolution 9 chosen — </a:t>
            </a:r>
            <a:r>
              <a:rPr b="0" i="0" lang="en-US" sz="1150" u="none" cap="none" strike="noStrike">
                <a:solidFill>
                  <a:srgbClr val="5B6B7E"/>
                </a:solidFill>
                <a:latin typeface="Calibri"/>
                <a:ea typeface="Calibri"/>
                <a:cs typeface="Calibri"/>
                <a:sym typeface="Calibri"/>
              </a:rPr>
              <a:t>~174m edge length, ~0.105 km² per hex — fine enough to separate “this side of the road,” coarse enough to keep ~3,700 hexes citywide.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548640" y="5138928"/>
            <a:ext cx="5349240" cy="566928"/>
          </a:xfrm>
          <a:prstGeom prst="roundRect">
            <a:avLst>
              <a:gd fmla="val 9677" name="adj"/>
            </a:avLst>
          </a:prstGeom>
          <a:solidFill>
            <a:srgbClr val="E4F1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7"/>
          <p:cNvSpPr/>
          <p:nvPr/>
        </p:nvSpPr>
        <p:spPr>
          <a:xfrm>
            <a:off x="777240" y="5138928"/>
            <a:ext cx="49377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Data-driven grid: </a:t>
            </a:r>
            <a:r>
              <a:rPr b="0" i="0" lang="en-US" sz="1100" u="none" cap="none" strike="noStrike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only hexes containing real data points are kept — 3,691 active hexes, not an empty citywide tiling.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6263640" y="1417320"/>
            <a:ext cx="5394960" cy="4892040"/>
          </a:xfrm>
          <a:prstGeom prst="roundRect">
            <a:avLst>
              <a:gd fmla="val 1495" name="adj"/>
            </a:avLst>
          </a:prstGeom>
          <a:solidFill>
            <a:srgbClr val="13294B"/>
          </a:solidFill>
          <a:ln>
            <a:noFill/>
          </a:ln>
          <a:effectLst>
            <a:outerShdw blurRad="127000" rotWithShape="0" algn="bl" dir="5400000" dist="50800">
              <a:srgbClr val="13294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7"/>
          <p:cNvSpPr/>
          <p:nvPr/>
        </p:nvSpPr>
        <p:spPr>
          <a:xfrm>
            <a:off x="6537960" y="1627632"/>
            <a:ext cx="4846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8 Engineered Features per Hex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1" name="Google Shape;221;p7"/>
          <p:cNvCxnSpPr/>
          <p:nvPr/>
        </p:nvCxnSpPr>
        <p:spPr>
          <a:xfrm>
            <a:off x="6537960" y="2084832"/>
            <a:ext cx="4846320" cy="0"/>
          </a:xfrm>
          <a:prstGeom prst="straightConnector1">
            <a:avLst/>
          </a:prstGeom>
          <a:noFill/>
          <a:ln cap="flat" cmpd="sng" w="12700">
            <a:solidFill>
              <a:srgbClr val="33507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2" name="Google Shape;222;p7"/>
          <p:cNvSpPr/>
          <p:nvPr/>
        </p:nvSpPr>
        <p:spPr>
          <a:xfrm>
            <a:off x="6537960" y="2286000"/>
            <a:ext cx="146304" cy="146304"/>
          </a:xfrm>
          <a:prstGeom prst="ellipse">
            <a:avLst/>
          </a:prstGeom>
          <a:solidFill>
            <a:srgbClr val="C77B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7"/>
          <p:cNvSpPr/>
          <p:nvPr/>
        </p:nvSpPr>
        <p:spPr>
          <a:xfrm>
            <a:off x="6784848" y="2212848"/>
            <a:ext cx="2331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D8D6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9FD8D6"/>
                </a:solidFill>
                <a:latin typeface="Courier New"/>
                <a:ea typeface="Courier New"/>
                <a:cs typeface="Courier New"/>
                <a:sym typeface="Courier New"/>
              </a:rPr>
              <a:t>population_in_hex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7"/>
          <p:cNvSpPr/>
          <p:nvPr/>
        </p:nvSpPr>
        <p:spPr>
          <a:xfrm>
            <a:off x="9144000" y="2212848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6E5"/>
              </a:buClr>
              <a:buSzPts val="970"/>
              <a:buFont typeface="Calibri"/>
              <a:buNone/>
            </a:pPr>
            <a:r>
              <a:rPr b="0" i="0" lang="en-US" sz="970" u="none" cap="none" strike="noStrike">
                <a:solidFill>
                  <a:srgbClr val="C9D6E5"/>
                </a:solidFill>
                <a:latin typeface="Calibri"/>
                <a:ea typeface="Calibri"/>
                <a:cs typeface="Calibri"/>
                <a:sym typeface="Calibri"/>
              </a:rPr>
              <a:t>Kontur population summed per hex</a:t>
            </a:r>
            <a:endParaRPr b="0" i="0" sz="9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7"/>
          <p:cNvSpPr/>
          <p:nvPr/>
        </p:nvSpPr>
        <p:spPr>
          <a:xfrm>
            <a:off x="6537960" y="2651760"/>
            <a:ext cx="146304" cy="146304"/>
          </a:xfrm>
          <a:prstGeom prst="ellipse">
            <a:avLst/>
          </a:prstGeom>
          <a:solidFill>
            <a:srgbClr val="C77B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7"/>
          <p:cNvSpPr/>
          <p:nvPr/>
        </p:nvSpPr>
        <p:spPr>
          <a:xfrm>
            <a:off x="6784848" y="2578608"/>
            <a:ext cx="2331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D8D6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9FD8D6"/>
                </a:solidFill>
                <a:latin typeface="Courier New"/>
                <a:ea typeface="Courier New"/>
                <a:cs typeface="Courier New"/>
                <a:sym typeface="Courier New"/>
              </a:rPr>
              <a:t>avg_rent_in_hex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9144000" y="2578608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6E5"/>
              </a:buClr>
              <a:buSzPts val="970"/>
              <a:buFont typeface="Calibri"/>
              <a:buNone/>
            </a:pPr>
            <a:r>
              <a:rPr b="0" i="0" lang="en-US" sz="970" u="none" cap="none" strike="noStrike">
                <a:solidFill>
                  <a:srgbClr val="C9D6E5"/>
                </a:solidFill>
                <a:latin typeface="Calibri"/>
                <a:ea typeface="Calibri"/>
                <a:cs typeface="Calibri"/>
                <a:sym typeface="Calibri"/>
              </a:rPr>
              <a:t>Mean rent/sqft, KD-Tree NN imputed</a:t>
            </a:r>
            <a:endParaRPr b="0" i="0" sz="9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6537960" y="3017520"/>
            <a:ext cx="146304" cy="14630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7"/>
          <p:cNvSpPr/>
          <p:nvPr/>
        </p:nvSpPr>
        <p:spPr>
          <a:xfrm>
            <a:off x="6784848" y="2944368"/>
            <a:ext cx="2331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D8D6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9FD8D6"/>
                </a:solidFill>
                <a:latin typeface="Courier New"/>
                <a:ea typeface="Courier New"/>
                <a:cs typeface="Courier New"/>
                <a:sym typeface="Courier New"/>
              </a:rPr>
              <a:t>dist_to_nearest_road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9144000" y="2944368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6E5"/>
              </a:buClr>
              <a:buSzPts val="970"/>
              <a:buFont typeface="Calibri"/>
              <a:buNone/>
            </a:pPr>
            <a:r>
              <a:rPr b="0" i="0" lang="en-US" sz="970" u="none" cap="none" strike="noStrike">
                <a:solidFill>
                  <a:srgbClr val="C9D6E5"/>
                </a:solidFill>
                <a:latin typeface="Calibri"/>
                <a:ea typeface="Calibri"/>
                <a:cs typeface="Calibri"/>
                <a:sym typeface="Calibri"/>
              </a:rPr>
              <a:t>Haversine-correct distance (metres)</a:t>
            </a:r>
            <a:endParaRPr b="0" i="0" sz="9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7"/>
          <p:cNvSpPr/>
          <p:nvPr/>
        </p:nvSpPr>
        <p:spPr>
          <a:xfrm>
            <a:off x="6537960" y="3383280"/>
            <a:ext cx="146304" cy="14630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7"/>
          <p:cNvSpPr/>
          <p:nvPr/>
        </p:nvSpPr>
        <p:spPr>
          <a:xfrm>
            <a:off x="6784848" y="3310128"/>
            <a:ext cx="2331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D8D6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9FD8D6"/>
                </a:solidFill>
                <a:latin typeface="Courier New"/>
                <a:ea typeface="Courier New"/>
                <a:cs typeface="Courier New"/>
                <a:sym typeface="Courier New"/>
              </a:rPr>
              <a:t>commercial_density_1km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7"/>
          <p:cNvSpPr/>
          <p:nvPr/>
        </p:nvSpPr>
        <p:spPr>
          <a:xfrm>
            <a:off x="9144000" y="3310128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6E5"/>
              </a:buClr>
              <a:buSzPts val="970"/>
              <a:buFont typeface="Calibri"/>
              <a:buNone/>
            </a:pPr>
            <a:r>
              <a:rPr b="0" i="0" lang="en-US" sz="970" u="none" cap="none" strike="noStrike">
                <a:solidFill>
                  <a:srgbClr val="C9D6E5"/>
                </a:solidFill>
                <a:latin typeface="Calibri"/>
                <a:ea typeface="Calibri"/>
                <a:cs typeface="Calibri"/>
                <a:sym typeface="Calibri"/>
              </a:rPr>
              <a:t>Commercial POIs within 1km</a:t>
            </a:r>
            <a:endParaRPr b="0" i="0" sz="9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7"/>
          <p:cNvSpPr/>
          <p:nvPr/>
        </p:nvSpPr>
        <p:spPr>
          <a:xfrm>
            <a:off x="6537960" y="3749040"/>
            <a:ext cx="146304" cy="14630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7"/>
          <p:cNvSpPr/>
          <p:nvPr/>
        </p:nvSpPr>
        <p:spPr>
          <a:xfrm>
            <a:off x="6784848" y="3675888"/>
            <a:ext cx="2331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D8D6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9FD8D6"/>
                </a:solidFill>
                <a:latin typeface="Courier New"/>
                <a:ea typeface="Courier New"/>
                <a:cs typeface="Courier New"/>
                <a:sym typeface="Courier New"/>
              </a:rPr>
              <a:t>education_density_1km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7"/>
          <p:cNvSpPr/>
          <p:nvPr/>
        </p:nvSpPr>
        <p:spPr>
          <a:xfrm>
            <a:off x="9144000" y="3675888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6E5"/>
              </a:buClr>
              <a:buSzPts val="970"/>
              <a:buFont typeface="Calibri"/>
              <a:buNone/>
            </a:pPr>
            <a:r>
              <a:rPr b="0" i="0" lang="en-US" sz="970" u="none" cap="none" strike="noStrike">
                <a:solidFill>
                  <a:srgbClr val="C9D6E5"/>
                </a:solidFill>
                <a:latin typeface="Calibri"/>
                <a:ea typeface="Calibri"/>
                <a:cs typeface="Calibri"/>
                <a:sym typeface="Calibri"/>
              </a:rPr>
              <a:t>Universities/colleges within 1km</a:t>
            </a:r>
            <a:endParaRPr b="0" i="0" sz="9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7"/>
          <p:cNvSpPr/>
          <p:nvPr/>
        </p:nvSpPr>
        <p:spPr>
          <a:xfrm>
            <a:off x="6537960" y="4114800"/>
            <a:ext cx="146304" cy="14630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7"/>
          <p:cNvSpPr/>
          <p:nvPr/>
        </p:nvSpPr>
        <p:spPr>
          <a:xfrm>
            <a:off x="6784848" y="4041648"/>
            <a:ext cx="2331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D8D6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9FD8D6"/>
                </a:solidFill>
                <a:latin typeface="Courier New"/>
                <a:ea typeface="Courier New"/>
                <a:cs typeface="Courier New"/>
                <a:sym typeface="Courier New"/>
              </a:rPr>
              <a:t>parking_density_1km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7"/>
          <p:cNvSpPr/>
          <p:nvPr/>
        </p:nvSpPr>
        <p:spPr>
          <a:xfrm>
            <a:off x="9144000" y="4041648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6E5"/>
              </a:buClr>
              <a:buSzPts val="970"/>
              <a:buFont typeface="Calibri"/>
              <a:buNone/>
            </a:pPr>
            <a:r>
              <a:rPr b="0" i="0" lang="en-US" sz="970" u="none" cap="none" strike="noStrike">
                <a:solidFill>
                  <a:srgbClr val="C9D6E5"/>
                </a:solidFill>
                <a:latin typeface="Calibri"/>
                <a:ea typeface="Calibri"/>
                <a:cs typeface="Calibri"/>
                <a:sym typeface="Calibri"/>
              </a:rPr>
              <a:t>Parking facilities within 1km</a:t>
            </a:r>
            <a:endParaRPr b="0" i="0" sz="9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7"/>
          <p:cNvSpPr/>
          <p:nvPr/>
        </p:nvSpPr>
        <p:spPr>
          <a:xfrm>
            <a:off x="6537960" y="4480560"/>
            <a:ext cx="146304" cy="14630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7"/>
          <p:cNvSpPr/>
          <p:nvPr/>
        </p:nvSpPr>
        <p:spPr>
          <a:xfrm>
            <a:off x="6784848" y="4407408"/>
            <a:ext cx="2331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D8D6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9FD8D6"/>
                </a:solidFill>
                <a:latin typeface="Courier New"/>
                <a:ea typeface="Courier New"/>
                <a:cs typeface="Courier New"/>
                <a:sym typeface="Courier New"/>
              </a:rPr>
              <a:t>lifestyle_density_1km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7"/>
          <p:cNvSpPr/>
          <p:nvPr/>
        </p:nvSpPr>
        <p:spPr>
          <a:xfrm>
            <a:off x="9144000" y="4407408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6E5"/>
              </a:buClr>
              <a:buSzPts val="970"/>
              <a:buFont typeface="Calibri"/>
              <a:buNone/>
            </a:pPr>
            <a:r>
              <a:rPr b="0" i="0" lang="en-US" sz="970" u="none" cap="none" strike="noStrike">
                <a:solidFill>
                  <a:srgbClr val="C9D6E5"/>
                </a:solidFill>
                <a:latin typeface="Calibri"/>
                <a:ea typeface="Calibri"/>
                <a:cs typeface="Calibri"/>
                <a:sym typeface="Calibri"/>
              </a:rPr>
              <a:t>Wellness/fitness/social POIs within 1km</a:t>
            </a:r>
            <a:endParaRPr b="0" i="0" sz="9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7"/>
          <p:cNvSpPr/>
          <p:nvPr/>
        </p:nvSpPr>
        <p:spPr>
          <a:xfrm>
            <a:off x="6537960" y="4846320"/>
            <a:ext cx="146304" cy="14630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7"/>
          <p:cNvSpPr/>
          <p:nvPr/>
        </p:nvSpPr>
        <p:spPr>
          <a:xfrm>
            <a:off x="6784848" y="4773168"/>
            <a:ext cx="2331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D8D6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9FD8D6"/>
                </a:solidFill>
                <a:latin typeface="Courier New"/>
                <a:ea typeface="Courier New"/>
                <a:cs typeface="Courier New"/>
                <a:sym typeface="Courier New"/>
              </a:rPr>
              <a:t>luxury_density_1km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9144000" y="4773168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6E5"/>
              </a:buClr>
              <a:buSzPts val="970"/>
              <a:buFont typeface="Calibri"/>
              <a:buNone/>
            </a:pPr>
            <a:r>
              <a:rPr b="0" i="0" lang="en-US" sz="970" u="none" cap="none" strike="noStrike">
                <a:solidFill>
                  <a:srgbClr val="C9D6E5"/>
                </a:solidFill>
                <a:latin typeface="Calibri"/>
                <a:ea typeface="Calibri"/>
                <a:cs typeface="Calibri"/>
                <a:sym typeface="Calibri"/>
              </a:rPr>
              <a:t>Malls, hotels, salons within 1km</a:t>
            </a:r>
            <a:endParaRPr b="0" i="0" sz="9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6" name="Google Shape;246;p7"/>
          <p:cNvCxnSpPr/>
          <p:nvPr/>
        </p:nvCxnSpPr>
        <p:spPr>
          <a:xfrm>
            <a:off x="6537960" y="5212080"/>
            <a:ext cx="4846320" cy="0"/>
          </a:xfrm>
          <a:prstGeom prst="straightConnector1">
            <a:avLst/>
          </a:prstGeom>
          <a:noFill/>
          <a:ln cap="flat" cmpd="sng" w="12700">
            <a:solidFill>
              <a:srgbClr val="33507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7" name="Google Shape;247;p7"/>
          <p:cNvSpPr/>
          <p:nvPr/>
        </p:nvSpPr>
        <p:spPr>
          <a:xfrm>
            <a:off x="6537960" y="5349240"/>
            <a:ext cx="4846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4C99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4C99A"/>
                </a:solidFill>
                <a:latin typeface="Calibri"/>
                <a:ea typeface="Calibri"/>
                <a:cs typeface="Calibri"/>
                <a:sym typeface="Calibri"/>
              </a:rPr>
              <a:t>Target label: </a:t>
            </a: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is_hotspot = 1 if a real café falls in that hex, else 0 (the “unlabelled” class)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E"/>
                </a:solidFill>
                <a:latin typeface="Calibri"/>
                <a:ea typeface="Calibri"/>
                <a:cs typeface="Calibri"/>
                <a:sym typeface="Calibri"/>
              </a:rPr>
              <a:t>GeoSpatial Site Selection — Café Vertical, Lahore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7"/>
          <p:cNvSpPr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E"/>
                </a:solidFill>
                <a:latin typeface="Calibri"/>
                <a:ea typeface="Calibri"/>
                <a:cs typeface="Calibri"/>
                <a:sym typeface="Calibri"/>
              </a:rPr>
              <a:t>5 /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ssets/icon_hex_teal.png" id="250" name="Google Shape;250;p7"/>
          <p:cNvPicPr preferRelativeResize="0"/>
          <p:nvPr/>
        </p:nvPicPr>
        <p:blipFill rotWithShape="1">
          <a:blip r:embed="rId4">
            <a:alphaModFix amt="60000"/>
          </a:blip>
          <a:srcRect b="0" l="0" r="0" t="0"/>
          <a:stretch/>
        </p:blipFill>
        <p:spPr>
          <a:xfrm>
            <a:off x="457200" y="6437376"/>
            <a:ext cx="128016" cy="128016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7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8"/>
          <p:cNvSpPr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DATA STATISTICS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8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3294B"/>
                </a:solidFill>
                <a:latin typeface="Cambria"/>
                <a:ea typeface="Cambria"/>
                <a:cs typeface="Cambria"/>
                <a:sym typeface="Cambria"/>
              </a:rPr>
              <a:t>What the feature matrix actually looks like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8"/>
          <p:cNvSpPr/>
          <p:nvPr/>
        </p:nvSpPr>
        <p:spPr>
          <a:xfrm>
            <a:off x="548640" y="1417320"/>
            <a:ext cx="2670048" cy="1417320"/>
          </a:xfrm>
          <a:prstGeom prst="roundRect">
            <a:avLst>
              <a:gd fmla="val 5161" name="adj"/>
            </a:avLst>
          </a:prstGeom>
          <a:solidFill>
            <a:srgbClr val="F7F9FB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8"/>
          <p:cNvSpPr/>
          <p:nvPr/>
        </p:nvSpPr>
        <p:spPr>
          <a:xfrm>
            <a:off x="685800" y="1563624"/>
            <a:ext cx="2395728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3294B"/>
                </a:solidFill>
                <a:latin typeface="Cambria"/>
                <a:ea typeface="Cambria"/>
                <a:cs typeface="Cambria"/>
                <a:sym typeface="Cambria"/>
              </a:rPr>
              <a:t>3,691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8"/>
          <p:cNvSpPr/>
          <p:nvPr/>
        </p:nvSpPr>
        <p:spPr>
          <a:xfrm>
            <a:off x="685800" y="2194560"/>
            <a:ext cx="239572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6B7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B7E"/>
                </a:solidFill>
                <a:latin typeface="Calibri"/>
                <a:ea typeface="Calibri"/>
                <a:cs typeface="Calibri"/>
                <a:sym typeface="Calibri"/>
              </a:rPr>
              <a:t>Active H3 hexes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6B7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B7E"/>
                </a:solidFill>
                <a:latin typeface="Calibri"/>
                <a:ea typeface="Calibri"/>
                <a:cs typeface="Calibri"/>
                <a:sym typeface="Calibri"/>
              </a:rPr>
              <a:t>(resolution 9)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8"/>
          <p:cNvSpPr/>
          <p:nvPr/>
        </p:nvSpPr>
        <p:spPr>
          <a:xfrm>
            <a:off x="3337560" y="1417320"/>
            <a:ext cx="2670048" cy="1417320"/>
          </a:xfrm>
          <a:prstGeom prst="roundRect">
            <a:avLst>
              <a:gd fmla="val 5161" name="adj"/>
            </a:avLst>
          </a:prstGeom>
          <a:solidFill>
            <a:srgbClr val="0E7C7B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8"/>
          <p:cNvSpPr/>
          <p:nvPr/>
        </p:nvSpPr>
        <p:spPr>
          <a:xfrm>
            <a:off x="3474720" y="1563624"/>
            <a:ext cx="2395728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275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8"/>
          <p:cNvSpPr/>
          <p:nvPr/>
        </p:nvSpPr>
        <p:spPr>
          <a:xfrm>
            <a:off x="3474720" y="2194560"/>
            <a:ext cx="239572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4F1F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4F1F0"/>
                </a:solidFill>
                <a:latin typeface="Calibri"/>
                <a:ea typeface="Calibri"/>
                <a:cs typeface="Calibri"/>
                <a:sym typeface="Calibri"/>
              </a:rPr>
              <a:t>Confirmed café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4F1F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4F1F0"/>
                </a:solidFill>
                <a:latin typeface="Calibri"/>
                <a:ea typeface="Calibri"/>
                <a:cs typeface="Calibri"/>
                <a:sym typeface="Calibri"/>
              </a:rPr>
              <a:t>locations (positives)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8"/>
          <p:cNvSpPr/>
          <p:nvPr/>
        </p:nvSpPr>
        <p:spPr>
          <a:xfrm>
            <a:off x="6126480" y="1417320"/>
            <a:ext cx="2670048" cy="1417320"/>
          </a:xfrm>
          <a:prstGeom prst="roundRect">
            <a:avLst>
              <a:gd fmla="val 5161" name="adj"/>
            </a:avLst>
          </a:prstGeom>
          <a:solidFill>
            <a:srgbClr val="F7F9FB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8"/>
          <p:cNvSpPr/>
          <p:nvPr/>
        </p:nvSpPr>
        <p:spPr>
          <a:xfrm>
            <a:off x="6263640" y="1563624"/>
            <a:ext cx="2395728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3294B"/>
                </a:solidFill>
                <a:latin typeface="Cambria"/>
                <a:ea typeface="Cambria"/>
                <a:cs typeface="Cambria"/>
                <a:sym typeface="Cambria"/>
              </a:rPr>
              <a:t>3,416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8"/>
          <p:cNvSpPr/>
          <p:nvPr/>
        </p:nvSpPr>
        <p:spPr>
          <a:xfrm>
            <a:off x="6263640" y="2194560"/>
            <a:ext cx="239572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6B7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B7E"/>
                </a:solidFill>
                <a:latin typeface="Calibri"/>
                <a:ea typeface="Calibri"/>
                <a:cs typeface="Calibri"/>
                <a:sym typeface="Calibri"/>
              </a:rPr>
              <a:t>Unlabelled hexes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6B7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B7E"/>
                </a:solidFill>
                <a:latin typeface="Calibri"/>
                <a:ea typeface="Calibri"/>
                <a:cs typeface="Calibri"/>
                <a:sym typeface="Calibri"/>
              </a:rPr>
              <a:t>(not all are “bad”)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8"/>
          <p:cNvSpPr/>
          <p:nvPr/>
        </p:nvSpPr>
        <p:spPr>
          <a:xfrm>
            <a:off x="8915400" y="1417320"/>
            <a:ext cx="2670048" cy="1417320"/>
          </a:xfrm>
          <a:prstGeom prst="roundRect">
            <a:avLst>
              <a:gd fmla="val 5161" name="adj"/>
            </a:avLst>
          </a:prstGeom>
          <a:solidFill>
            <a:srgbClr val="F7F9FB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8"/>
          <p:cNvSpPr/>
          <p:nvPr/>
        </p:nvSpPr>
        <p:spPr>
          <a:xfrm>
            <a:off x="9052560" y="1563624"/>
            <a:ext cx="2395728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3294B"/>
                </a:solidFill>
                <a:latin typeface="Cambria"/>
                <a:ea typeface="Cambria"/>
                <a:cs typeface="Cambria"/>
                <a:sym typeface="Cambria"/>
              </a:rPr>
              <a:t>12.4 : 1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8"/>
          <p:cNvSpPr/>
          <p:nvPr/>
        </p:nvSpPr>
        <p:spPr>
          <a:xfrm>
            <a:off x="9052560" y="2194560"/>
            <a:ext cx="239572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6B7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B7E"/>
                </a:solidFill>
                <a:latin typeface="Calibri"/>
                <a:ea typeface="Calibri"/>
                <a:cs typeface="Calibri"/>
                <a:sym typeface="Calibri"/>
              </a:rPr>
              <a:t>Unlabelled-to-positive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6B7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B7E"/>
                </a:solidFill>
                <a:latin typeface="Calibri"/>
                <a:ea typeface="Calibri"/>
                <a:cs typeface="Calibri"/>
                <a:sym typeface="Calibri"/>
              </a:rPr>
              <a:t>class ratio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8"/>
          <p:cNvSpPr/>
          <p:nvPr/>
        </p:nvSpPr>
        <p:spPr>
          <a:xfrm>
            <a:off x="548640" y="3154680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Label Distribution (PU Framing)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2" name="Google Shape;27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3520440"/>
            <a:ext cx="512064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8"/>
          <p:cNvSpPr/>
          <p:nvPr/>
        </p:nvSpPr>
        <p:spPr>
          <a:xfrm>
            <a:off x="6263640" y="3154680"/>
            <a:ext cx="5394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Feature Ranges (citywide)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74" name="Google Shape;274;p8"/>
          <p:cNvGraphicFramePr/>
          <p:nvPr/>
        </p:nvGraphicFramePr>
        <p:xfrm>
          <a:off x="6263640" y="35204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{6D4DE03E-215E-4B47-9E9C-B524DC3F9C05}</a:tableStyleId>
              </a:tblPr>
              <a:tblGrid>
                <a:gridCol w="2834650"/>
                <a:gridCol w="1280150"/>
                <a:gridCol w="1280150"/>
              </a:tblGrid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Feature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Mean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Max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294B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7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C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Population / hex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7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C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2,329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7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C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27,032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7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C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Avg rent (PKR/sqft)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7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C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46,084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7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C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301,219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7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C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Dist. to road (m)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7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C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367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7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C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4,436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7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C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Commercial density (1km)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7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C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0.74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7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C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7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C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Education density (1km)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7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C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0.86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7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C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7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C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Parking density (1km)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7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C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1.20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7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C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7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C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Lifestyle density (1km)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7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C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2.80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7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C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48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7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C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Luxury density (1km)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7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C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7.41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7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C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106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5" name="Google Shape;275;p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E"/>
                </a:solidFill>
                <a:latin typeface="Calibri"/>
                <a:ea typeface="Calibri"/>
                <a:cs typeface="Calibri"/>
                <a:sym typeface="Calibri"/>
              </a:rPr>
              <a:t>GeoSpatial Site Selection — Café Vertical, Lahore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8"/>
          <p:cNvSpPr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E"/>
                </a:solidFill>
                <a:latin typeface="Calibri"/>
                <a:ea typeface="Calibri"/>
                <a:cs typeface="Calibri"/>
                <a:sym typeface="Calibri"/>
              </a:rPr>
              <a:t>6 /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ssets/icon_hex_teal.png" id="277" name="Google Shape;277;p8"/>
          <p:cNvPicPr preferRelativeResize="0"/>
          <p:nvPr/>
        </p:nvPicPr>
        <p:blipFill rotWithShape="1">
          <a:blip r:embed="rId4">
            <a:alphaModFix amt="60000"/>
          </a:blip>
          <a:srcRect b="0" l="0" r="0" t="0"/>
          <a:stretch/>
        </p:blipFill>
        <p:spPr>
          <a:xfrm>
            <a:off x="457200" y="6437376"/>
            <a:ext cx="128016" cy="128016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8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9"/>
          <p:cNvSpPr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METHODOLOGY — MODELING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9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3294B"/>
                </a:solidFill>
                <a:latin typeface="Cambria"/>
                <a:ea typeface="Cambria"/>
                <a:cs typeface="Cambria"/>
                <a:sym typeface="Cambria"/>
              </a:rPr>
              <a:t>PU Learning: Spy + Weighted Bagging with XGBoost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9"/>
          <p:cNvSpPr/>
          <p:nvPr/>
        </p:nvSpPr>
        <p:spPr>
          <a:xfrm>
            <a:off x="548640" y="1371600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E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B6B7E"/>
                </a:solidFill>
                <a:latin typeface="Calibri"/>
                <a:ea typeface="Calibri"/>
                <a:cs typeface="Calibri"/>
                <a:sym typeface="Calibri"/>
              </a:rPr>
              <a:t>Two models are trained side-by-side so every claim is benchmarked, never asserted on faith.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9"/>
          <p:cNvSpPr/>
          <p:nvPr/>
        </p:nvSpPr>
        <p:spPr>
          <a:xfrm>
            <a:off x="548640" y="1920240"/>
            <a:ext cx="3520440" cy="4297680"/>
          </a:xfrm>
          <a:prstGeom prst="roundRect">
            <a:avLst>
              <a:gd fmla="val 2078" name="adj"/>
            </a:avLst>
          </a:prstGeom>
          <a:solidFill>
            <a:srgbClr val="F7F9FB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9"/>
          <p:cNvSpPr/>
          <p:nvPr/>
        </p:nvSpPr>
        <p:spPr>
          <a:xfrm>
            <a:off x="777240" y="2121408"/>
            <a:ext cx="457200" cy="457200"/>
          </a:xfrm>
          <a:prstGeom prst="ellipse">
            <a:avLst/>
          </a:prstGeom>
          <a:solidFill>
            <a:srgbClr val="9FB4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_balance_white.png" id="289" name="Google Shape;28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6968" y="2231136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9"/>
          <p:cNvSpPr/>
          <p:nvPr/>
        </p:nvSpPr>
        <p:spPr>
          <a:xfrm>
            <a:off x="1371600" y="2121408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Baseline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9"/>
          <p:cNvSpPr/>
          <p:nvPr/>
        </p:nvSpPr>
        <p:spPr>
          <a:xfrm>
            <a:off x="777240" y="2670048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B6B7E"/>
                </a:solidFill>
                <a:latin typeface="Calibri"/>
                <a:ea typeface="Calibri"/>
                <a:cs typeface="Calibri"/>
                <a:sym typeface="Calibri"/>
              </a:rPr>
              <a:t>Logistic Regression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9"/>
          <p:cNvSpPr/>
          <p:nvPr/>
        </p:nvSpPr>
        <p:spPr>
          <a:xfrm>
            <a:off x="777240" y="3063240"/>
            <a:ext cx="30632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C273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C2733"/>
                </a:solidFill>
                <a:latin typeface="Calibri"/>
                <a:ea typeface="Calibri"/>
                <a:cs typeface="Calibri"/>
                <a:sym typeface="Calibri"/>
              </a:rPr>
              <a:t>Treats every unlabelled hex as a confirmed negative </a:t>
            </a:r>
            <a:r>
              <a:rPr b="0" i="1" lang="en-US" sz="1100" u="none" cap="none" strike="noStrike">
                <a:solidFill>
                  <a:srgbClr val="B23A3A"/>
                </a:solidFill>
                <a:latin typeface="Calibri"/>
                <a:ea typeface="Calibri"/>
                <a:cs typeface="Calibri"/>
                <a:sym typeface="Calibri"/>
              </a:rPr>
              <a:t>(the naive assumption).</a:t>
            </a:r>
            <a:r>
              <a:rPr b="0" i="0" lang="en-US" sz="1100" u="none" cap="none" strike="noStrike">
                <a:solidFill>
                  <a:srgbClr val="1C2733"/>
                </a:solidFill>
                <a:latin typeface="Calibri"/>
                <a:ea typeface="Calibri"/>
                <a:cs typeface="Calibri"/>
                <a:sym typeface="Calibri"/>
              </a:rPr>
              <a:t> Uses class_weight=‘balanced’ as the only concession to the 12.4:1 imbalance — the “what if we ignored PU structure” control.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3" name="Google Shape;293;p9"/>
          <p:cNvCxnSpPr/>
          <p:nvPr/>
        </p:nvCxnSpPr>
        <p:spPr>
          <a:xfrm>
            <a:off x="777240" y="4434840"/>
            <a:ext cx="3063240" cy="0"/>
          </a:xfrm>
          <a:prstGeom prst="straightConnector1">
            <a:avLst/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4" name="Google Shape;294;p9"/>
          <p:cNvSpPr/>
          <p:nvPr/>
        </p:nvSpPr>
        <p:spPr>
          <a:xfrm>
            <a:off x="777240" y="4572000"/>
            <a:ext cx="3063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B7E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5B6B7E"/>
                </a:solidFill>
                <a:latin typeface="Calibri"/>
                <a:ea typeface="Calibri"/>
                <a:cs typeface="Calibri"/>
                <a:sym typeface="Calibri"/>
              </a:rPr>
              <a:t>5-fold Stratified Cross-Validation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B7E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5B6B7E"/>
                </a:solidFill>
                <a:latin typeface="Calibri"/>
                <a:ea typeface="Calibri"/>
                <a:cs typeface="Calibri"/>
                <a:sym typeface="Calibri"/>
              </a:rPr>
              <a:t>PR-AUC (Average Precision) as the headline metric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9"/>
          <p:cNvSpPr/>
          <p:nvPr/>
        </p:nvSpPr>
        <p:spPr>
          <a:xfrm>
            <a:off x="777240" y="5349240"/>
            <a:ext cx="3063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Why PR-AUC, not ROC-AUC: with positives this rare, ROC-AUC is inflated by trivial true-negative recall.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9"/>
          <p:cNvSpPr/>
          <p:nvPr/>
        </p:nvSpPr>
        <p:spPr>
          <a:xfrm>
            <a:off x="4251960" y="1920240"/>
            <a:ext cx="7388352" cy="4297680"/>
          </a:xfrm>
          <a:prstGeom prst="roundRect">
            <a:avLst>
              <a:gd fmla="val 1702" name="adj"/>
            </a:avLst>
          </a:prstGeom>
          <a:solidFill>
            <a:srgbClr val="13294B"/>
          </a:solidFill>
          <a:ln>
            <a:noFill/>
          </a:ln>
          <a:effectLst>
            <a:outerShdw blurRad="127000" rotWithShape="0" algn="bl" dir="5400000" dist="50800">
              <a:srgbClr val="13294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9"/>
          <p:cNvSpPr/>
          <p:nvPr/>
        </p:nvSpPr>
        <p:spPr>
          <a:xfrm>
            <a:off x="4480560" y="2121408"/>
            <a:ext cx="457200" cy="457200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_brain_white.png" id="298" name="Google Shape;298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90288" y="2231136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9"/>
          <p:cNvSpPr/>
          <p:nvPr/>
        </p:nvSpPr>
        <p:spPr>
          <a:xfrm>
            <a:off x="5074920" y="2121408"/>
            <a:ext cx="6309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Proposed:  XGBoost — PU Spy + Weighted Bagging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9"/>
          <p:cNvSpPr/>
          <p:nvPr/>
        </p:nvSpPr>
        <p:spPr>
          <a:xfrm>
            <a:off x="4526280" y="2743200"/>
            <a:ext cx="3383280" cy="1481328"/>
          </a:xfrm>
          <a:prstGeom prst="roundRect">
            <a:avLst>
              <a:gd fmla="val 3704" name="adj"/>
            </a:avLst>
          </a:prstGeom>
          <a:solidFill>
            <a:srgbClr val="1B3A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9"/>
          <p:cNvSpPr/>
          <p:nvPr/>
        </p:nvSpPr>
        <p:spPr>
          <a:xfrm>
            <a:off x="4709160" y="283464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C99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4C99A"/>
                </a:solidFill>
                <a:latin typeface="Calibri"/>
                <a:ea typeface="Calibri"/>
                <a:cs typeface="Calibri"/>
                <a:sym typeface="Calibri"/>
              </a:rPr>
              <a:t>STEP A — Spy Identification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9"/>
          <p:cNvSpPr/>
          <p:nvPr/>
        </p:nvSpPr>
        <p:spPr>
          <a:xfrm>
            <a:off x="4709160" y="3127248"/>
            <a:ext cx="30175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9D6E5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C9D6E5"/>
                </a:solidFill>
                <a:latin typeface="Calibri"/>
                <a:ea typeface="Calibri"/>
                <a:cs typeface="Calibri"/>
                <a:sym typeface="Calibri"/>
              </a:rPr>
              <a:t>15% of confirmed positives are secretly relabelled as 0 (“spies”) and mixed into the unlabelled pool. A quick XGBoost pass finds the lowest score any spy receives — that becomes the confidence threshold.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9"/>
          <p:cNvSpPr/>
          <p:nvPr/>
        </p:nvSpPr>
        <p:spPr>
          <a:xfrm>
            <a:off x="7909560" y="3291840"/>
            <a:ext cx="411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9"/>
          <p:cNvSpPr/>
          <p:nvPr/>
        </p:nvSpPr>
        <p:spPr>
          <a:xfrm>
            <a:off x="8275320" y="2743200"/>
            <a:ext cx="3108960" cy="1481328"/>
          </a:xfrm>
          <a:prstGeom prst="roundRect">
            <a:avLst>
              <a:gd fmla="val 3704" name="adj"/>
            </a:avLst>
          </a:prstGeom>
          <a:solidFill>
            <a:srgbClr val="1B3A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9"/>
          <p:cNvSpPr/>
          <p:nvPr/>
        </p:nvSpPr>
        <p:spPr>
          <a:xfrm>
            <a:off x="8458200" y="283464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C99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4C99A"/>
                </a:solidFill>
                <a:latin typeface="Calibri"/>
                <a:ea typeface="Calibri"/>
                <a:cs typeface="Calibri"/>
                <a:sym typeface="Calibri"/>
              </a:rPr>
              <a:t>STEP B — Weighted Bagging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9"/>
          <p:cNvSpPr/>
          <p:nvPr/>
        </p:nvSpPr>
        <p:spPr>
          <a:xfrm>
            <a:off x="8458200" y="3127248"/>
            <a:ext cx="27432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9D6E5"/>
              </a:buClr>
              <a:buSzPts val="960"/>
              <a:buFont typeface="Calibri"/>
              <a:buNone/>
            </a:pPr>
            <a:r>
              <a:rPr b="0" i="0" lang="en-US" sz="960" u="none" cap="none" strike="noStrike">
                <a:solidFill>
                  <a:srgbClr val="C9D6E5"/>
                </a:solidFill>
                <a:latin typeface="Calibri"/>
                <a:ea typeface="Calibri"/>
                <a:cs typeface="Calibri"/>
                <a:sym typeface="Calibri"/>
              </a:rPr>
              <a:t>Unlabelled hexes scoring below the threshold become Reliable Negatives. 100 balanced mini-models are trained (positives + sampled reliable negatives); final score = mean across all bags.</a:t>
            </a:r>
            <a:endParaRPr b="0" i="0" sz="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7" name="Google Shape;307;p9"/>
          <p:cNvCxnSpPr/>
          <p:nvPr/>
        </p:nvCxnSpPr>
        <p:spPr>
          <a:xfrm>
            <a:off x="4526280" y="4370832"/>
            <a:ext cx="6858000" cy="0"/>
          </a:xfrm>
          <a:prstGeom prst="straightConnector1">
            <a:avLst/>
          </a:prstGeom>
          <a:noFill/>
          <a:ln cap="flat" cmpd="sng" w="12700">
            <a:solidFill>
              <a:srgbClr val="33507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8" name="Google Shape;308;p9"/>
          <p:cNvSpPr/>
          <p:nvPr/>
        </p:nvSpPr>
        <p:spPr>
          <a:xfrm>
            <a:off x="4526280" y="448056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D8D6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9FD8D6"/>
                </a:solidFill>
                <a:latin typeface="Calibri"/>
                <a:ea typeface="Calibri"/>
                <a:cs typeface="Calibri"/>
                <a:sym typeface="Calibri"/>
              </a:rPr>
              <a:t>Core hyperparameters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9"/>
          <p:cNvSpPr/>
          <p:nvPr/>
        </p:nvSpPr>
        <p:spPr>
          <a:xfrm>
            <a:off x="4526280" y="4773168"/>
            <a:ext cx="6858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n_estimators=200  ·  max_depth=5  ·  learning_rate=0.05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subsample=0.8  ·  colsample_bytree=0.8  ·  100 bags  ·  spy_ratio=0.15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0" name="Google Shape;310;p9"/>
          <p:cNvCxnSpPr/>
          <p:nvPr/>
        </p:nvCxnSpPr>
        <p:spPr>
          <a:xfrm>
            <a:off x="4526280" y="5440680"/>
            <a:ext cx="6858000" cy="0"/>
          </a:xfrm>
          <a:prstGeom prst="straightConnector1">
            <a:avLst/>
          </a:prstGeom>
          <a:noFill/>
          <a:ln cap="flat" cmpd="sng" w="12700">
            <a:solidFill>
              <a:srgbClr val="33507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1" name="Google Shape;311;p9"/>
          <p:cNvSpPr/>
          <p:nvPr/>
        </p:nvSpPr>
        <p:spPr>
          <a:xfrm>
            <a:off x="4526280" y="5577840"/>
            <a:ext cx="6858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4C99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4C99A"/>
                </a:solidFill>
                <a:latin typeface="Calibri"/>
                <a:ea typeface="Calibri"/>
                <a:cs typeface="Calibri"/>
                <a:sym typeface="Calibri"/>
              </a:rPr>
              <a:t>Same evaluation discipline as the baseline: </a:t>
            </a:r>
            <a:r>
              <a:rPr b="0" i="0" lang="en-US" sz="1050" u="none" cap="none" strike="noStrike">
                <a:solidFill>
                  <a:srgbClr val="C9D6E5"/>
                </a:solidFill>
                <a:latin typeface="Calibri"/>
                <a:ea typeface="Calibri"/>
                <a:cs typeface="Calibri"/>
                <a:sym typeface="Calibri"/>
              </a:rPr>
              <a:t>5-fold Stratified CV — the full spy+bagging procedure re-runs inside every fold, so the reported score reflects real generalisation, not in-bag fit.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E"/>
                </a:solidFill>
                <a:latin typeface="Calibri"/>
                <a:ea typeface="Calibri"/>
                <a:cs typeface="Calibri"/>
                <a:sym typeface="Calibri"/>
              </a:rPr>
              <a:t>GeoSpatial Site Selection — Café Vertical, Lahore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9"/>
          <p:cNvSpPr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E"/>
                </a:solidFill>
                <a:latin typeface="Calibri"/>
                <a:ea typeface="Calibri"/>
                <a:cs typeface="Calibri"/>
                <a:sym typeface="Calibri"/>
              </a:rPr>
              <a:t>7 /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ssets/icon_hex_teal.png" id="314" name="Google Shape;314;p9"/>
          <p:cNvPicPr preferRelativeResize="0"/>
          <p:nvPr/>
        </p:nvPicPr>
        <p:blipFill rotWithShape="1">
          <a:blip r:embed="rId5">
            <a:alphaModFix amt="60000"/>
          </a:blip>
          <a:srcRect b="0" l="0" r="0" t="0"/>
          <a:stretch/>
        </p:blipFill>
        <p:spPr>
          <a:xfrm>
            <a:off x="457200" y="6437376"/>
            <a:ext cx="128016" cy="128016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9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0"/>
          <p:cNvSpPr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TRAINING RESULTS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0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13294B"/>
                </a:solidFill>
                <a:latin typeface="Cambria"/>
                <a:ea typeface="Cambria"/>
                <a:cs typeface="Cambria"/>
                <a:sym typeface="Cambria"/>
              </a:rPr>
              <a:t>Model comparison: an honest benchmark, not a foregone win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0"/>
          <p:cNvSpPr/>
          <p:nvPr/>
        </p:nvSpPr>
        <p:spPr>
          <a:xfrm>
            <a:off x="548640" y="1417320"/>
            <a:ext cx="5852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PR-AUC by Fold (5-fold CV, seed = 143)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4" name="Google Shape;32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783080"/>
            <a:ext cx="5852160" cy="278892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10"/>
          <p:cNvSpPr/>
          <p:nvPr/>
        </p:nvSpPr>
        <p:spPr>
          <a:xfrm>
            <a:off x="548640" y="4709160"/>
            <a:ext cx="2816352" cy="914400"/>
          </a:xfrm>
          <a:prstGeom prst="roundRect">
            <a:avLst>
              <a:gd fmla="val 6000" name="adj"/>
            </a:avLst>
          </a:prstGeom>
          <a:solidFill>
            <a:srgbClr val="F8E9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0"/>
          <p:cNvSpPr/>
          <p:nvPr/>
        </p:nvSpPr>
        <p:spPr>
          <a:xfrm>
            <a:off x="685800" y="480060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7B3E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C77B3E"/>
                </a:solidFill>
                <a:latin typeface="Cambria"/>
                <a:ea typeface="Cambria"/>
                <a:cs typeface="Cambria"/>
                <a:sym typeface="Cambria"/>
              </a:rPr>
              <a:t>0.3093 ± 0.0380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0"/>
          <p:cNvSpPr/>
          <p:nvPr/>
        </p:nvSpPr>
        <p:spPr>
          <a:xfrm>
            <a:off x="685800" y="5193792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930"/>
              <a:buFont typeface="Calibri"/>
              <a:buNone/>
            </a:pPr>
            <a:r>
              <a:rPr b="0" i="0" lang="en-US" sz="930" u="none" cap="none" strike="noStrike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Logistic Regression — mean PR-AUC</a:t>
            </a:r>
            <a:endParaRPr b="0" i="0" sz="9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0"/>
          <p:cNvSpPr/>
          <p:nvPr/>
        </p:nvSpPr>
        <p:spPr>
          <a:xfrm>
            <a:off x="3584448" y="4709160"/>
            <a:ext cx="2816352" cy="914400"/>
          </a:xfrm>
          <a:prstGeom prst="roundRect">
            <a:avLst>
              <a:gd fmla="val 6000" name="adj"/>
            </a:avLst>
          </a:prstGeom>
          <a:solidFill>
            <a:srgbClr val="E4F1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0"/>
          <p:cNvSpPr/>
          <p:nvPr/>
        </p:nvSpPr>
        <p:spPr>
          <a:xfrm>
            <a:off x="3721608" y="480060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0E7C7B"/>
                </a:solidFill>
                <a:latin typeface="Cambria"/>
                <a:ea typeface="Cambria"/>
                <a:cs typeface="Cambria"/>
                <a:sym typeface="Cambria"/>
              </a:rPr>
              <a:t>0.2428 ± 0.0434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0"/>
          <p:cNvSpPr/>
          <p:nvPr/>
        </p:nvSpPr>
        <p:spPr>
          <a:xfrm>
            <a:off x="3721608" y="5193792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930"/>
              <a:buFont typeface="Calibri"/>
              <a:buNone/>
            </a:pPr>
            <a:r>
              <a:rPr b="0" i="0" lang="en-US" sz="930" u="none" cap="none" strike="noStrike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XGBoost PU Spy-Bagging — mean PR-AUC</a:t>
            </a:r>
            <a:endParaRPr b="0" i="0" sz="9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0"/>
          <p:cNvSpPr/>
          <p:nvPr/>
        </p:nvSpPr>
        <p:spPr>
          <a:xfrm>
            <a:off x="548640" y="5742432"/>
            <a:ext cx="5852160" cy="566928"/>
          </a:xfrm>
          <a:prstGeom prst="roundRect">
            <a:avLst>
              <a:gd fmla="val 9677" name="adj"/>
            </a:avLst>
          </a:prstGeom>
          <a:solidFill>
            <a:srgbClr val="FBEA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0"/>
          <p:cNvSpPr/>
          <p:nvPr/>
        </p:nvSpPr>
        <p:spPr>
          <a:xfrm>
            <a:off x="713232" y="5742432"/>
            <a:ext cx="5532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23A3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B23A3A"/>
                </a:solidFill>
                <a:latin typeface="Calibri"/>
                <a:ea typeface="Calibri"/>
                <a:cs typeface="Calibri"/>
                <a:sym typeface="Calibri"/>
              </a:rPr>
              <a:t>Honest finding:  </a:t>
            </a:r>
            <a:r>
              <a:rPr b="0" i="0" lang="en-US" sz="1000" u="none" cap="none" strike="noStrike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the simple baseline currently leads by 0.0665 PR-AUC (−21.5%) — with only 275 positives, the spy threshold is estimated from a small sample.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0"/>
          <p:cNvSpPr/>
          <p:nvPr/>
        </p:nvSpPr>
        <p:spPr>
          <a:xfrm>
            <a:off x="6720840" y="1417320"/>
            <a:ext cx="4937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Feature Importance — XGBoost PU Model (gain)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0"/>
          <p:cNvSpPr/>
          <p:nvPr/>
        </p:nvSpPr>
        <p:spPr>
          <a:xfrm>
            <a:off x="6720840" y="1783080"/>
            <a:ext cx="4937760" cy="3246120"/>
          </a:xfrm>
          <a:prstGeom prst="roundRect">
            <a:avLst>
              <a:gd fmla="val 169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feature_importance.png" id="335" name="Google Shape;335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0" y="1901952"/>
            <a:ext cx="4663440" cy="2999232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10"/>
          <p:cNvSpPr/>
          <p:nvPr/>
        </p:nvSpPr>
        <p:spPr>
          <a:xfrm>
            <a:off x="6720840" y="5166360"/>
            <a:ext cx="4937760" cy="1143000"/>
          </a:xfrm>
          <a:prstGeom prst="roundRect">
            <a:avLst>
              <a:gd fmla="val 4800" name="adj"/>
            </a:avLst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_bulb_amber.png" id="337" name="Google Shape;337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03720" y="5330952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10"/>
          <p:cNvSpPr/>
          <p:nvPr/>
        </p:nvSpPr>
        <p:spPr>
          <a:xfrm>
            <a:off x="7360920" y="5166360"/>
            <a:ext cx="416052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4C99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4C99A"/>
                </a:solidFill>
                <a:latin typeface="Calibri"/>
                <a:ea typeface="Calibri"/>
                <a:cs typeface="Calibri"/>
                <a:sym typeface="Calibri"/>
              </a:rPr>
              <a:t>Key takeaway:  </a:t>
            </a: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luxury_density_1km and lifestyle_density_1km dominate (gain ≈0.49 / 0.47) — café success in Lahore tracks lifestyle/luxury commercial clustering far more than raw population or road proximity.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E"/>
                </a:solidFill>
                <a:latin typeface="Calibri"/>
                <a:ea typeface="Calibri"/>
                <a:cs typeface="Calibri"/>
                <a:sym typeface="Calibri"/>
              </a:rPr>
              <a:t>GeoSpatial Site Selection — Café Vertical, Lahore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0"/>
          <p:cNvSpPr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E"/>
                </a:solidFill>
                <a:latin typeface="Calibri"/>
                <a:ea typeface="Calibri"/>
                <a:cs typeface="Calibri"/>
                <a:sym typeface="Calibri"/>
              </a:rPr>
              <a:t>8 /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ssets/icon_hex_teal.png" id="341" name="Google Shape;341;p10"/>
          <p:cNvPicPr preferRelativeResize="0"/>
          <p:nvPr/>
        </p:nvPicPr>
        <p:blipFill rotWithShape="1">
          <a:blip r:embed="rId6">
            <a:alphaModFix amt="60000"/>
          </a:blip>
          <a:srcRect b="0" l="0" r="0" t="0"/>
          <a:stretch/>
        </p:blipFill>
        <p:spPr>
          <a:xfrm>
            <a:off x="457200" y="6437376"/>
            <a:ext cx="128016" cy="128016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10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1"/>
          <p:cNvSpPr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OUTPUTS &amp; DELIVERABLES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3294B"/>
                </a:solidFill>
                <a:latin typeface="Cambria"/>
                <a:ea typeface="Cambria"/>
                <a:cs typeface="Cambria"/>
                <a:sym typeface="Cambria"/>
              </a:rPr>
              <a:t>From model scores to a defensible, GIS-checked shortlist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1"/>
          <p:cNvSpPr/>
          <p:nvPr/>
        </p:nvSpPr>
        <p:spPr>
          <a:xfrm>
            <a:off x="548640" y="1417320"/>
            <a:ext cx="3520440" cy="1783080"/>
          </a:xfrm>
          <a:prstGeom prst="roundRect">
            <a:avLst>
              <a:gd fmla="val 4103" name="adj"/>
            </a:avLst>
          </a:prstGeom>
          <a:solidFill>
            <a:srgbClr val="1B3A63"/>
          </a:solidFill>
          <a:ln>
            <a:noFill/>
          </a:ln>
          <a:effectLst>
            <a:outerShdw blurRad="88900" rotWithShape="0" algn="bl" dir="5400000" dist="38100">
              <a:srgbClr val="13294B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1"/>
          <p:cNvSpPr/>
          <p:nvPr/>
        </p:nvSpPr>
        <p:spPr>
          <a:xfrm>
            <a:off x="749808" y="1618488"/>
            <a:ext cx="502920" cy="502920"/>
          </a:xfrm>
          <a:prstGeom prst="ellipse">
            <a:avLst/>
          </a:prstGeom>
          <a:solidFill>
            <a:srgbClr val="0F26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_chart_white.png" id="352" name="Google Shape;35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824" y="1746504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11"/>
          <p:cNvSpPr/>
          <p:nvPr/>
        </p:nvSpPr>
        <p:spPr>
          <a:xfrm>
            <a:off x="1371600" y="1618488"/>
            <a:ext cx="2514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predictions.csv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1"/>
          <p:cNvSpPr/>
          <p:nvPr/>
        </p:nvSpPr>
        <p:spPr>
          <a:xfrm>
            <a:off x="749808" y="2221992"/>
            <a:ext cx="3118104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DCE6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CE6F0"/>
                </a:solidFill>
                <a:latin typeface="Calibri"/>
                <a:ea typeface="Calibri"/>
                <a:cs typeface="Calibri"/>
                <a:sym typeface="Calibri"/>
              </a:rPr>
              <a:t>Every hex scored by both models, ranked by XGBoost probability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1"/>
          <p:cNvSpPr/>
          <p:nvPr/>
        </p:nvSpPr>
        <p:spPr>
          <a:xfrm>
            <a:off x="4078224" y="2125980"/>
            <a:ext cx="21031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E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5B6B7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1"/>
          <p:cNvSpPr/>
          <p:nvPr/>
        </p:nvSpPr>
        <p:spPr>
          <a:xfrm>
            <a:off x="4297680" y="1417320"/>
            <a:ext cx="3520440" cy="1783080"/>
          </a:xfrm>
          <a:prstGeom prst="roundRect">
            <a:avLst>
              <a:gd fmla="val 4103" name="adj"/>
            </a:avLst>
          </a:prstGeom>
          <a:solidFill>
            <a:srgbClr val="1B3A63"/>
          </a:solidFill>
          <a:ln>
            <a:noFill/>
          </a:ln>
          <a:effectLst>
            <a:outerShdw blurRad="88900" rotWithShape="0" algn="bl" dir="5400000" dist="38100">
              <a:srgbClr val="13294B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1"/>
          <p:cNvSpPr/>
          <p:nvPr/>
        </p:nvSpPr>
        <p:spPr>
          <a:xfrm>
            <a:off x="4498848" y="1618488"/>
            <a:ext cx="502920" cy="502920"/>
          </a:xfrm>
          <a:prstGeom prst="ellipse">
            <a:avLst/>
          </a:prstGeom>
          <a:solidFill>
            <a:srgbClr val="0F26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_shield_white.png" id="358" name="Google Shape;358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26864" y="1746504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11"/>
          <p:cNvSpPr/>
          <p:nvPr/>
        </p:nvSpPr>
        <p:spPr>
          <a:xfrm>
            <a:off x="5120640" y="1618488"/>
            <a:ext cx="2514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masked_predictions.csv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1"/>
          <p:cNvSpPr/>
          <p:nvPr/>
        </p:nvSpPr>
        <p:spPr>
          <a:xfrm>
            <a:off x="4498848" y="2221992"/>
            <a:ext cx="3118104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DCE6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CE6F0"/>
                </a:solidFill>
                <a:latin typeface="Calibri"/>
                <a:ea typeface="Calibri"/>
                <a:cs typeface="Calibri"/>
                <a:sym typeface="Calibri"/>
              </a:rPr>
              <a:t>Top-200 hexes vetted against rivers, graveyards &amp; restricted zones (UTM-accurate overlap, 10% veto threshold)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1"/>
          <p:cNvSpPr/>
          <p:nvPr/>
        </p:nvSpPr>
        <p:spPr>
          <a:xfrm>
            <a:off x="7827264" y="2125980"/>
            <a:ext cx="21031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E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5B6B7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1"/>
          <p:cNvSpPr/>
          <p:nvPr/>
        </p:nvSpPr>
        <p:spPr>
          <a:xfrm>
            <a:off x="8046720" y="1417320"/>
            <a:ext cx="3520440" cy="1783080"/>
          </a:xfrm>
          <a:prstGeom prst="roundRect">
            <a:avLst>
              <a:gd fmla="val 4103" name="adj"/>
            </a:avLst>
          </a:prstGeom>
          <a:solidFill>
            <a:srgbClr val="0E7C7B"/>
          </a:solidFill>
          <a:ln>
            <a:noFill/>
          </a:ln>
          <a:effectLst>
            <a:outerShdw blurRad="88900" rotWithShape="0" algn="bl" dir="5400000" dist="38100">
              <a:srgbClr val="13294B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1"/>
          <p:cNvSpPr/>
          <p:nvPr/>
        </p:nvSpPr>
        <p:spPr>
          <a:xfrm>
            <a:off x="8247888" y="1618488"/>
            <a:ext cx="502920" cy="502920"/>
          </a:xfrm>
          <a:prstGeom prst="ellipse">
            <a:avLst/>
          </a:prstGeom>
          <a:solidFill>
            <a:srgbClr val="0A5B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_map_white.png" id="364" name="Google Shape;364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75904" y="1746504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11"/>
          <p:cNvSpPr/>
          <p:nvPr/>
        </p:nvSpPr>
        <p:spPr>
          <a:xfrm>
            <a:off x="8869680" y="1618488"/>
            <a:ext cx="2514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lahore_site_map.html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1"/>
          <p:cNvSpPr/>
          <p:nvPr/>
        </p:nvSpPr>
        <p:spPr>
          <a:xfrm>
            <a:off x="8247888" y="2221992"/>
            <a:ext cx="3118104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DCE6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CE6F0"/>
                </a:solidFill>
                <a:latin typeface="Calibri"/>
                <a:ea typeface="Calibri"/>
                <a:cs typeface="Calibri"/>
                <a:sym typeface="Calibri"/>
              </a:rPr>
              <a:t>Self-contained interactive Folium map — ground truth, top-50 recommendations, SHAP popups, choropleth heatmap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1"/>
          <p:cNvSpPr/>
          <p:nvPr/>
        </p:nvSpPr>
        <p:spPr>
          <a:xfrm>
            <a:off x="548640" y="3520440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Interactive Map — Three Toggleable Layers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1"/>
          <p:cNvSpPr/>
          <p:nvPr/>
        </p:nvSpPr>
        <p:spPr>
          <a:xfrm>
            <a:off x="548640" y="3931920"/>
            <a:ext cx="201168" cy="201168"/>
          </a:xfrm>
          <a:prstGeom prst="ellipse">
            <a:avLst/>
          </a:prstGeom>
          <a:solidFill>
            <a:srgbClr val="C77B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1"/>
          <p:cNvSpPr/>
          <p:nvPr/>
        </p:nvSpPr>
        <p:spPr>
          <a:xfrm>
            <a:off x="877824" y="3858768"/>
            <a:ext cx="4983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070"/>
              <a:buFont typeface="Calibri"/>
              <a:buNone/>
            </a:pPr>
            <a:r>
              <a:rPr b="1" i="0" lang="en-US" sz="1070" u="none" cap="none" strike="noStrike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Ground Truth Cafés  </a:t>
            </a:r>
            <a:r>
              <a:rPr b="0" i="0" lang="en-US" sz="1070" u="none" cap="none" strike="noStrike">
                <a:solidFill>
                  <a:srgbClr val="5B6B7E"/>
                </a:solidFill>
                <a:latin typeface="Calibri"/>
                <a:ea typeface="Calibri"/>
                <a:cs typeface="Calibri"/>
                <a:sym typeface="Calibri"/>
              </a:rPr>
              <a:t>275 confirmed venues, for visual sanity-check</a:t>
            </a:r>
            <a:endParaRPr b="0" i="0" sz="1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1"/>
          <p:cNvSpPr/>
          <p:nvPr/>
        </p:nvSpPr>
        <p:spPr>
          <a:xfrm>
            <a:off x="548640" y="4462272"/>
            <a:ext cx="201168" cy="201168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1"/>
          <p:cNvSpPr/>
          <p:nvPr/>
        </p:nvSpPr>
        <p:spPr>
          <a:xfrm>
            <a:off x="877824" y="4389120"/>
            <a:ext cx="4983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070"/>
              <a:buFont typeface="Calibri"/>
              <a:buNone/>
            </a:pPr>
            <a:r>
              <a:rPr b="1" i="0" lang="en-US" sz="1070" u="none" cap="none" strike="noStrike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AI Recommendations (Top 50)  </a:t>
            </a:r>
            <a:r>
              <a:rPr b="0" i="0" lang="en-US" sz="1070" u="none" cap="none" strike="noStrike">
                <a:solidFill>
                  <a:srgbClr val="5B6B7E"/>
                </a:solidFill>
                <a:latin typeface="Calibri"/>
                <a:ea typeface="Calibri"/>
                <a:cs typeface="Calibri"/>
                <a:sym typeface="Calibri"/>
              </a:rPr>
              <a:t>Approved hexes, colour-ramped yellow→red by probability, click for SHAP breakdown</a:t>
            </a:r>
            <a:endParaRPr b="0" i="0" sz="1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1"/>
          <p:cNvSpPr/>
          <p:nvPr/>
        </p:nvSpPr>
        <p:spPr>
          <a:xfrm>
            <a:off x="548640" y="4992624"/>
            <a:ext cx="201168" cy="201168"/>
          </a:xfrm>
          <a:prstGeom prst="ellipse">
            <a:avLst/>
          </a:prstGeom>
          <a:solidFill>
            <a:srgbClr val="1B3A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1"/>
          <p:cNvSpPr/>
          <p:nvPr/>
        </p:nvSpPr>
        <p:spPr>
          <a:xfrm>
            <a:off x="877824" y="4919472"/>
            <a:ext cx="4983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070"/>
              <a:buFont typeface="Calibri"/>
              <a:buNone/>
            </a:pPr>
            <a:r>
              <a:rPr b="1" i="0" lang="en-US" sz="1070" u="none" cap="none" strike="noStrike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Choropleth Heatmap  </a:t>
            </a:r>
            <a:r>
              <a:rPr b="0" i="0" lang="en-US" sz="1070" u="none" cap="none" strike="noStrike">
                <a:solidFill>
                  <a:srgbClr val="5B6B7E"/>
                </a:solidFill>
                <a:latin typeface="Calibri"/>
                <a:ea typeface="Calibri"/>
                <a:cs typeface="Calibri"/>
                <a:sym typeface="Calibri"/>
              </a:rPr>
              <a:t>City-wide background context for every approved hex</a:t>
            </a:r>
            <a:endParaRPr b="0" i="0" sz="1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1"/>
          <p:cNvSpPr/>
          <p:nvPr/>
        </p:nvSpPr>
        <p:spPr>
          <a:xfrm>
            <a:off x="6263640" y="3520440"/>
            <a:ext cx="5394960" cy="2743200"/>
          </a:xfrm>
          <a:prstGeom prst="roundRect">
            <a:avLst>
              <a:gd fmla="val 2667" name="adj"/>
            </a:avLst>
          </a:prstGeom>
          <a:solidFill>
            <a:srgbClr val="F7F9FB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_search_amber.png" id="375" name="Google Shape;375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92240" y="37033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11"/>
          <p:cNvSpPr/>
          <p:nvPr/>
        </p:nvSpPr>
        <p:spPr>
          <a:xfrm>
            <a:off x="6949440" y="370332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Explainability, not a black box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1"/>
          <p:cNvSpPr/>
          <p:nvPr/>
        </p:nvSpPr>
        <p:spPr>
          <a:xfrm>
            <a:off x="6492240" y="4160520"/>
            <a:ext cx="493776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C2733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1C2733"/>
                </a:solidFill>
                <a:latin typeface="Calibri"/>
                <a:ea typeface="Calibri"/>
                <a:cs typeface="Calibri"/>
                <a:sym typeface="Calibri"/>
              </a:rPr>
              <a:t>Every top-50 recommendation ships with a per-feature SHAP attribution — exactly which signals (and by how much) pushed that hex's score up or down. This is the difference between a ranked list and a decision a business owner can actually act on.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8" name="Google Shape;378;p11"/>
          <p:cNvCxnSpPr/>
          <p:nvPr/>
        </p:nvCxnSpPr>
        <p:spPr>
          <a:xfrm>
            <a:off x="6492240" y="5212080"/>
            <a:ext cx="4937760" cy="0"/>
          </a:xfrm>
          <a:prstGeom prst="straightConnector1">
            <a:avLst/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9" name="Google Shape;379;p11"/>
          <p:cNvSpPr/>
          <p:nvPr/>
        </p:nvSpPr>
        <p:spPr>
          <a:xfrm>
            <a:off x="6492240" y="5349240"/>
            <a:ext cx="49377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Top-ranked approved hex: </a:t>
            </a:r>
            <a:r>
              <a:rPr b="1" i="0" lang="en-US" sz="1100" u="none" cap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xgb_hotspot_probability ≈ 0.996, zero unbuildable-zone overlap.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E"/>
                </a:solidFill>
                <a:latin typeface="Calibri"/>
                <a:ea typeface="Calibri"/>
                <a:cs typeface="Calibri"/>
                <a:sym typeface="Calibri"/>
              </a:rPr>
              <a:t>GeoSpatial Site Selection — Café Vertical, Lahore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1"/>
          <p:cNvSpPr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E"/>
                </a:solidFill>
                <a:latin typeface="Calibri"/>
                <a:ea typeface="Calibri"/>
                <a:cs typeface="Calibri"/>
                <a:sym typeface="Calibri"/>
              </a:rPr>
              <a:t>9 /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ssets/icon_hex_teal.png" id="382" name="Google Shape;382;p11"/>
          <p:cNvPicPr preferRelativeResize="0"/>
          <p:nvPr/>
        </p:nvPicPr>
        <p:blipFill rotWithShape="1">
          <a:blip r:embed="rId7">
            <a:alphaModFix amt="60000"/>
          </a:blip>
          <a:srcRect b="0" l="0" r="0" t="0"/>
          <a:stretch/>
        </p:blipFill>
        <p:spPr>
          <a:xfrm>
            <a:off x="457200" y="6437376"/>
            <a:ext cx="128016" cy="128016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11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294B"/>
        </a:solidFill>
      </p:bgPr>
    </p:bg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icon_rocket_amber.png" id="389" name="Google Shape;38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" y="502920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12"/>
          <p:cNvSpPr/>
          <p:nvPr/>
        </p:nvSpPr>
        <p:spPr>
          <a:xfrm>
            <a:off x="1078992" y="502920"/>
            <a:ext cx="5486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D8D6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9FD8D6"/>
                </a:solidFill>
                <a:latin typeface="Calibri"/>
                <a:ea typeface="Calibri"/>
                <a:cs typeface="Calibri"/>
                <a:sym typeface="Calibri"/>
              </a:rPr>
              <a:t>ROADMAP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2"/>
          <p:cNvSpPr/>
          <p:nvPr/>
        </p:nvSpPr>
        <p:spPr>
          <a:xfrm>
            <a:off x="594360" y="914400"/>
            <a:ext cx="10515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From research pipeline to a real product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2"/>
          <p:cNvSpPr/>
          <p:nvPr/>
        </p:nvSpPr>
        <p:spPr>
          <a:xfrm>
            <a:off x="594360" y="1783080"/>
            <a:ext cx="3611880" cy="1874520"/>
          </a:xfrm>
          <a:prstGeom prst="roundRect">
            <a:avLst>
              <a:gd fmla="val 3902" name="adj"/>
            </a:avLst>
          </a:prstGeom>
          <a:solidFill>
            <a:srgbClr val="1B3A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2"/>
          <p:cNvSpPr/>
          <p:nvPr/>
        </p:nvSpPr>
        <p:spPr>
          <a:xfrm>
            <a:off x="795528" y="1984248"/>
            <a:ext cx="457200" cy="457200"/>
          </a:xfrm>
          <a:prstGeom prst="ellipse">
            <a:avLst/>
          </a:prstGeom>
          <a:solidFill>
            <a:srgbClr val="0F26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_server_teal.png" id="394" name="Google Shape;394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5256" y="2093976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12"/>
          <p:cNvSpPr/>
          <p:nvPr/>
        </p:nvSpPr>
        <p:spPr>
          <a:xfrm>
            <a:off x="1399032" y="1965960"/>
            <a:ext cx="2651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Harden the data foundation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2"/>
          <p:cNvSpPr/>
          <p:nvPr/>
        </p:nvSpPr>
        <p:spPr>
          <a:xfrm>
            <a:off x="795528" y="2560320"/>
            <a:ext cx="3209544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C9D6E5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C9D6E5"/>
                </a:solidFill>
                <a:latin typeface="Calibri"/>
                <a:ea typeface="Calibri"/>
                <a:cs typeface="Calibri"/>
                <a:sym typeface="Calibri"/>
              </a:rPr>
              <a:t>Pin dependencies, replace placeholder unbuildable-zones with verified zoning data, add CRS/projection unit tests.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2"/>
          <p:cNvSpPr/>
          <p:nvPr/>
        </p:nvSpPr>
        <p:spPr>
          <a:xfrm>
            <a:off x="4370832" y="1783080"/>
            <a:ext cx="3611880" cy="1874520"/>
          </a:xfrm>
          <a:prstGeom prst="roundRect">
            <a:avLst>
              <a:gd fmla="val 3902" name="adj"/>
            </a:avLst>
          </a:prstGeom>
          <a:solidFill>
            <a:srgbClr val="1B3A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2"/>
          <p:cNvSpPr/>
          <p:nvPr/>
        </p:nvSpPr>
        <p:spPr>
          <a:xfrm>
            <a:off x="4572000" y="1984248"/>
            <a:ext cx="457200" cy="457200"/>
          </a:xfrm>
          <a:prstGeom prst="ellipse">
            <a:avLst/>
          </a:prstGeom>
          <a:solidFill>
            <a:srgbClr val="0F26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_brain_teal.png" id="399" name="Google Shape;399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81728" y="2093976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12"/>
          <p:cNvSpPr/>
          <p:nvPr/>
        </p:nvSpPr>
        <p:spPr>
          <a:xfrm>
            <a:off x="5175504" y="1965960"/>
            <a:ext cx="2651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Improve the PU model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2"/>
          <p:cNvSpPr/>
          <p:nvPr/>
        </p:nvSpPr>
        <p:spPr>
          <a:xfrm>
            <a:off x="4572000" y="2560320"/>
            <a:ext cx="3209544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C9D6E5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C9D6E5"/>
                </a:solidFill>
                <a:latin typeface="Calibri"/>
                <a:ea typeface="Calibri"/>
                <a:cs typeface="Calibri"/>
                <a:sym typeface="Calibri"/>
              </a:rPr>
              <a:t>Sweep spy-ratio &amp; reliable-negative thresholds; explore label-volume growth before trusting bagging over the baseline.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2"/>
          <p:cNvSpPr/>
          <p:nvPr/>
        </p:nvSpPr>
        <p:spPr>
          <a:xfrm>
            <a:off x="8147304" y="1783080"/>
            <a:ext cx="3611880" cy="1874520"/>
          </a:xfrm>
          <a:prstGeom prst="roundRect">
            <a:avLst>
              <a:gd fmla="val 3902" name="adj"/>
            </a:avLst>
          </a:prstGeom>
          <a:solidFill>
            <a:srgbClr val="1B3A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2"/>
          <p:cNvSpPr/>
          <p:nvPr/>
        </p:nvSpPr>
        <p:spPr>
          <a:xfrm>
            <a:off x="8348472" y="1984248"/>
            <a:ext cx="457200" cy="457200"/>
          </a:xfrm>
          <a:prstGeom prst="ellipse">
            <a:avLst/>
          </a:prstGeom>
          <a:solidFill>
            <a:srgbClr val="0F26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_plug_teal.png" id="404" name="Google Shape;404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58200" y="2093976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12"/>
          <p:cNvSpPr/>
          <p:nvPr/>
        </p:nvSpPr>
        <p:spPr>
          <a:xfrm>
            <a:off x="8951976" y="1965960"/>
            <a:ext cx="2651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Ship a scoring API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2"/>
          <p:cNvSpPr/>
          <p:nvPr/>
        </p:nvSpPr>
        <p:spPr>
          <a:xfrm>
            <a:off x="8348472" y="2560320"/>
            <a:ext cx="3209544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C9D6E5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C9D6E5"/>
                </a:solidFill>
                <a:latin typeface="Calibri"/>
                <a:ea typeface="Calibri"/>
                <a:cs typeface="Calibri"/>
                <a:sym typeface="Calibri"/>
              </a:rPr>
              <a:t>Wrap the feature-matrix + model behind a lightweight “score this address” endpoint for on-demand queries.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2"/>
          <p:cNvSpPr/>
          <p:nvPr/>
        </p:nvSpPr>
        <p:spPr>
          <a:xfrm>
            <a:off x="594360" y="3840480"/>
            <a:ext cx="3611880" cy="1874520"/>
          </a:xfrm>
          <a:prstGeom prst="roundRect">
            <a:avLst>
              <a:gd fmla="val 3902" name="adj"/>
            </a:avLst>
          </a:prstGeom>
          <a:solidFill>
            <a:srgbClr val="1B3A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2"/>
          <p:cNvSpPr/>
          <p:nvPr/>
        </p:nvSpPr>
        <p:spPr>
          <a:xfrm>
            <a:off x="795528" y="4041648"/>
            <a:ext cx="457200" cy="457200"/>
          </a:xfrm>
          <a:prstGeom prst="ellipse">
            <a:avLst/>
          </a:prstGeom>
          <a:solidFill>
            <a:srgbClr val="0F26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_layer_teal.png" id="409" name="Google Shape;409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5256" y="4151376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12"/>
          <p:cNvSpPr/>
          <p:nvPr/>
        </p:nvSpPr>
        <p:spPr>
          <a:xfrm>
            <a:off x="1399032" y="4023360"/>
            <a:ext cx="2651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Generalize the vertical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2"/>
          <p:cNvSpPr/>
          <p:nvPr/>
        </p:nvSpPr>
        <p:spPr>
          <a:xfrm>
            <a:off x="795528" y="4617720"/>
            <a:ext cx="3209544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C9D6E5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C9D6E5"/>
                </a:solidFill>
                <a:latin typeface="Calibri"/>
                <a:ea typeface="Calibri"/>
                <a:cs typeface="Calibri"/>
                <a:sym typeface="Calibri"/>
              </a:rPr>
              <a:t>Make the ground-truth POI layer configurable — gyms, pharmacies, salons — beyond cafés.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2"/>
          <p:cNvSpPr/>
          <p:nvPr/>
        </p:nvSpPr>
        <p:spPr>
          <a:xfrm>
            <a:off x="4370832" y="3840480"/>
            <a:ext cx="3611880" cy="1874520"/>
          </a:xfrm>
          <a:prstGeom prst="roundRect">
            <a:avLst>
              <a:gd fmla="val 3902" name="adj"/>
            </a:avLst>
          </a:prstGeom>
          <a:solidFill>
            <a:srgbClr val="1B3A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2"/>
          <p:cNvSpPr/>
          <p:nvPr/>
        </p:nvSpPr>
        <p:spPr>
          <a:xfrm>
            <a:off x="4572000" y="4041648"/>
            <a:ext cx="457200" cy="457200"/>
          </a:xfrm>
          <a:prstGeom prst="ellipse">
            <a:avLst/>
          </a:prstGeom>
          <a:solidFill>
            <a:srgbClr val="0F26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_globe_teal.png" id="414" name="Google Shape;414;p1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81728" y="4151376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12"/>
          <p:cNvSpPr/>
          <p:nvPr/>
        </p:nvSpPr>
        <p:spPr>
          <a:xfrm>
            <a:off x="5175504" y="4023360"/>
            <a:ext cx="2651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Expand beyond Lahore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2"/>
          <p:cNvSpPr/>
          <p:nvPr/>
        </p:nvSpPr>
        <p:spPr>
          <a:xfrm>
            <a:off x="4572000" y="4617720"/>
            <a:ext cx="3209544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C9D6E5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C9D6E5"/>
                </a:solidFill>
                <a:latin typeface="Calibri"/>
                <a:ea typeface="Calibri"/>
                <a:cs typeface="Calibri"/>
                <a:sym typeface="Calibri"/>
              </a:rPr>
              <a:t>Parameterize the bounding box and amenity weights to onboard new cities with minimal rework.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2"/>
          <p:cNvSpPr/>
          <p:nvPr/>
        </p:nvSpPr>
        <p:spPr>
          <a:xfrm>
            <a:off x="8147304" y="3840480"/>
            <a:ext cx="3611880" cy="1874520"/>
          </a:xfrm>
          <a:prstGeom prst="roundRect">
            <a:avLst>
              <a:gd fmla="val 3902" name="adj"/>
            </a:avLst>
          </a:prstGeom>
          <a:solidFill>
            <a:srgbClr val="1B3A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2"/>
          <p:cNvSpPr/>
          <p:nvPr/>
        </p:nvSpPr>
        <p:spPr>
          <a:xfrm>
            <a:off x="8348472" y="4041648"/>
            <a:ext cx="457200" cy="457200"/>
          </a:xfrm>
          <a:prstGeom prst="ellipse">
            <a:avLst/>
          </a:prstGeom>
          <a:solidFill>
            <a:srgbClr val="0F26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_mobile_teal.png" id="419" name="Google Shape;419;p1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58200" y="4151376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12"/>
          <p:cNvSpPr/>
          <p:nvPr/>
        </p:nvSpPr>
        <p:spPr>
          <a:xfrm>
            <a:off x="8951976" y="4023360"/>
            <a:ext cx="2651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Client-facing front end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2"/>
          <p:cNvSpPr/>
          <p:nvPr/>
        </p:nvSpPr>
        <p:spPr>
          <a:xfrm>
            <a:off x="8348472" y="4617720"/>
            <a:ext cx="3209544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C9D6E5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C9D6E5"/>
                </a:solidFill>
                <a:latin typeface="Calibri"/>
                <a:ea typeface="Calibri"/>
                <a:cs typeface="Calibri"/>
                <a:sym typeface="Calibri"/>
              </a:rPr>
              <a:t>Turn the static HTML map into a hosted dashboard: saved searches, comparisons, exportable site reports.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2" name="Google Shape;422;p12"/>
          <p:cNvCxnSpPr/>
          <p:nvPr/>
        </p:nvCxnSpPr>
        <p:spPr>
          <a:xfrm>
            <a:off x="594360" y="5989320"/>
            <a:ext cx="10972800" cy="0"/>
          </a:xfrm>
          <a:prstGeom prst="straightConnector1">
            <a:avLst/>
          </a:prstGeom>
          <a:noFill/>
          <a:ln cap="flat" cmpd="sng" w="12700">
            <a:solidFill>
              <a:srgbClr val="33507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3" name="Google Shape;423;p12"/>
          <p:cNvSpPr/>
          <p:nvPr/>
        </p:nvSpPr>
        <p:spPr>
          <a:xfrm>
            <a:off x="594360" y="6108192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D8D6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9FD8D6"/>
                </a:solidFill>
                <a:latin typeface="Calibri"/>
                <a:ea typeface="Calibri"/>
                <a:cs typeface="Calibri"/>
                <a:sym typeface="Calibri"/>
              </a:rPr>
              <a:t>Thank you — questions and discussion welcome.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2"/>
          <p:cNvSpPr/>
          <p:nvPr/>
        </p:nvSpPr>
        <p:spPr>
          <a:xfrm>
            <a:off x="6583680" y="6108192"/>
            <a:ext cx="4983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F88A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F88AC"/>
                </a:solidFill>
                <a:latin typeface="Calibri"/>
                <a:ea typeface="Calibri"/>
                <a:cs typeface="Calibri"/>
                <a:sym typeface="Calibri"/>
              </a:rPr>
              <a:t>github.com/AbuhurairahFaheem/GeoSpatial-Site-Selection-for-Cafe-in-Lahore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