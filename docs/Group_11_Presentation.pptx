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PR-AUC (5-fold mean)</c:v>
                </c:pt>
              </c:strCache>
            </c:strRef>
          </c:tx>
          <c:spPr>
            <a:solidFill>
              <a:srgbClr val="A7BEAE"/>
            </a:solidFill>
            <a:effectLst/>
          </c:spPr>
          <c:invertIfNegative val="0"/>
          <c:dLbls>
            <c:numFmt formatCode="0.00" sourceLinked="0"/>
            <c:txPr>
              <a:bodyPr/>
              <a:lstStyle/>
              <a:p>
                <a:pPr>
                  <a:defRPr b="0" i="0" strike="noStrike" sz="1200" u="none">
                    <a:solidFill>
                      <a:srgbClr val="1C3144"/>
                    </a:solidFill>
                    <a:latin typeface="Arial"/>
                  </a:defRPr>
                </a:pPr>
              </a:p>
            </c:txPr>
            <c:showLegendKey val="0"/>
            <c:showVal val="1"/>
            <c:showCatName val="0"/>
            <c:showSerName val="0"/>
            <c:showPercent val="0"/>
            <c:showBubbleSize val="0"/>
            <c:showLeaderLines val="0"/>
          </c:dLbls>
          <c:dPt>
            <c:idx val="0"/>
            <c:invertIfNegative val="0"/>
            <c:bubble3D val="0"/>
            <c:spPr>
              <a:solidFill>
                <a:srgbClr val="A7BEAE"/>
              </a:solidFill>
              <a:effectLst/>
            </c:spPr>
          </c:dPt>
          <c:dPt>
            <c:idx val="1"/>
            <c:invertIfNegative val="0"/>
            <c:bubble3D val="0"/>
            <c:spPr>
              <a:solidFill>
                <a:srgbClr val="B85042"/>
              </a:solidFill>
              <a:effectLst/>
            </c:spPr>
          </c:dPt>
          <c:cat>
            <c:multiLvlStrRef>
              <c:f>Sheet1!$A$2:$A$3</c:f>
              <c:multiLvlStrCache>
                <c:ptCount val="2"/>
                <c:lvl>
                  <c:pt idx="0">
                    <c:v>Logistic
Regression</c:v>
                  </c:pt>
                  <c:pt idx="1">
                    <c:v>XGBoost
PU Bagging</c:v>
                  </c:pt>
                </c:lvl>
              </c:multiLvlStrCache>
            </c:multiLvlStrRef>
          </c:cat>
          <c:val>
            <c:numRef>
              <c:f>Sheet1!$B$2:$B$3</c:f>
              <c:numCache>
                <c:formatCode>General</c:formatCode>
                <c:ptCount val="2"/>
                <c:pt idx="0">
                  <c:v>0.31</c:v>
                </c:pt>
                <c:pt idx="1">
                  <c:v>0.24</c:v>
                </c:pt>
              </c:numCache>
            </c:numRef>
          </c:val>
        </c:ser>
        <c:dLbls>
          <c:numFmt formatCode="0.00" sourceLinked="0"/>
          <c:txPr>
            <a:bodyPr/>
            <a:lstStyle/>
            <a:p>
              <a:pPr>
                <a:defRPr b="0" i="0" strike="noStrike" sz="1200" u="none">
                  <a:solidFill>
                    <a:srgbClr val="1C314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choosing where to open a luxury cafe in Lahore comes down to instinct -- walking a neighborhood, copying competitors, hoping foot traffic shows up. We set out to replace that guesswork with a data-driven recommendation engine. Our objective: given everything we know about a location -- population, rent, road access, nearby amenities -- predict which unexplored parts of the city are most likely to support a successful high-end cafe, even if no cafe exists there yet. The core challenge is that we only have positive examples -- 275 known successful cafes -- and no confirmed failures. That's not a typical classification problem, it's a search for hidden opportunity, which is why we framed it as Positive-Unlabeled learning instead of standard supervised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we want to emphasize most. There was no existing dataset for this problem -- we built it entirely from scratch. We compiled and merged ten different raw sources: OpenStreetMap for commercial zones, education, parking, and lifestyle amenities; Kontur's population layer; and Graana listings for real rent prices. All of that gets unified onto a single Uber H3 hexagonal grid at resolution nine -- about 174 meters per cell -- giving us 3,691 hexes covering all of Lahore. Where rent data was missing in undeveloped areas, we used inverse-distance-weighted interpolation rather than a naive average, and we added continuous spatial features, like distance to Liberty Roundabout, so that no two empty hexes ever collapse into identical feature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Operationally, here's the pipeline. We trained a Logistic Regression baseline, then our proposed model: XGBoost using a Spy plus Weighted Bagging strategy built specifically for Positive-Unlabeled data. The spy step temporarily hides some known cafes to figure out what score range a definitely-not-a-cafe location gets, which gives us reliable negatives. We then train 100 XGBoost models on resampled negative sets and average their probabilities into one final hotspot score per hex. After scoring, approved sites pass through a Business Dispatch Sort that ranks them for hand-off, and a GIS spatial veto automatically drops any hex overlapping a graveyard, river, or restricted zone by more than ten percent -- so the model never recommends building inside a cemetery.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output is an interactive map of the Top 50 recommended sites, each with a SHAP explanation showing exactly which features -- rent, luxury amenity density, population -- drove that score. One nuance worth a sentence: our XGBoost model actually scores lower than the simple baseline on PR-AUC. That's not a failure -- it's the PU evaluation paradox. Because our zero-labels are really unknown, not confirmed negative, the metric punishes the model every time it confidently and correctly identifies a hidden hotspot that just hasn't opened a cafe yet. We validate success qualitatively instead -- for example, our spatial mask caught and correctly vetoed a recommended hex that overlapped a real graveyard.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it live. Demo: open lahore_site_map.html, click a top-ranked hex, show the popup with score and SHAP table, then click a known cafe marker for comparison. To wrap up -- two clear directions for future work. First, temporal foot-traffic data, since our current model is a static snapshot and doesn't account for, say, weekend market crowds. Second, spatial cannibalization -- right now nothing stops the model recommending two excellent hexes that are physically next to each other and would just compete for the same customers. Architecturally, the whole pipeline is parameterized by bounding box and city-center coordinates, so it could in principle be pointed at another city, given an equivalent set of local data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2E"/>
        </a:solidFill>
      </p:bgPr>
    </p:bg>
    <p:spTree>
      <p:nvGrpSpPr>
        <p:cNvPr id="1" name=""/>
        <p:cNvGrpSpPr/>
        <p:nvPr/>
      </p:nvGrpSpPr>
      <p:grpSpPr>
        <a:xfrm>
          <a:off x="0" y="0"/>
          <a:ext cx="0" cy="0"/>
          <a:chOff x="0" y="0"/>
          <a:chExt cx="0" cy="0"/>
        </a:xfrm>
      </p:grpSpPr>
      <p:sp>
        <p:nvSpPr>
          <p:cNvPr id="2" name="Shape 0"/>
          <p:cNvSpPr/>
          <p:nvPr/>
        </p:nvSpPr>
        <p:spPr>
          <a:xfrm>
            <a:off x="11018520" y="5623560"/>
            <a:ext cx="502920" cy="502920"/>
          </a:xfrm>
          <a:prstGeom prst="hexagon">
            <a:avLst/>
          </a:prstGeom>
          <a:solidFill>
            <a:srgbClr val="D9A566">
              <a:alpha val="12000"/>
            </a:srgbClr>
          </a:solidFill>
          <a:ln/>
        </p:spPr>
      </p:sp>
      <p:sp>
        <p:nvSpPr>
          <p:cNvPr id="3" name="Shape 1"/>
          <p:cNvSpPr/>
          <p:nvPr/>
        </p:nvSpPr>
        <p:spPr>
          <a:xfrm>
            <a:off x="11475720" y="5257800"/>
            <a:ext cx="365760" cy="365760"/>
          </a:xfrm>
          <a:prstGeom prst="hexagon">
            <a:avLst/>
          </a:prstGeom>
          <a:solidFill>
            <a:srgbClr val="D9A566">
              <a:alpha val="12000"/>
            </a:srgbClr>
          </a:solidFill>
          <a:ln/>
        </p:spPr>
      </p:sp>
      <p:sp>
        <p:nvSpPr>
          <p:cNvPr id="4" name="Shape 2"/>
          <p:cNvSpPr/>
          <p:nvPr/>
        </p:nvSpPr>
        <p:spPr>
          <a:xfrm>
            <a:off x="10607040" y="5349240"/>
            <a:ext cx="347472" cy="347472"/>
          </a:xfrm>
          <a:prstGeom prst="hexagon">
            <a:avLst/>
          </a:prstGeom>
          <a:solidFill>
            <a:srgbClr val="D9A566">
              <a:alpha val="12000"/>
            </a:srgbClr>
          </a:solidFill>
          <a:ln/>
        </p:spPr>
      </p:sp>
      <p:sp>
        <p:nvSpPr>
          <p:cNvPr id="5" name="Shape 3"/>
          <p:cNvSpPr/>
          <p:nvPr/>
        </p:nvSpPr>
        <p:spPr>
          <a:xfrm>
            <a:off x="11430000" y="6080760"/>
            <a:ext cx="292608" cy="292608"/>
          </a:xfrm>
          <a:prstGeom prst="hexagon">
            <a:avLst/>
          </a:prstGeom>
          <a:solidFill>
            <a:srgbClr val="D9A566">
              <a:alpha val="12000"/>
            </a:srgbClr>
          </a:solidFill>
          <a:ln/>
        </p:spPr>
      </p:sp>
      <p:sp>
        <p:nvSpPr>
          <p:cNvPr id="6" name="Shape 4"/>
          <p:cNvSpPr/>
          <p:nvPr/>
        </p:nvSpPr>
        <p:spPr>
          <a:xfrm>
            <a:off x="10927080" y="6126480"/>
            <a:ext cx="256032" cy="256032"/>
          </a:xfrm>
          <a:prstGeom prst="hexagon">
            <a:avLst/>
          </a:prstGeom>
          <a:solidFill>
            <a:srgbClr val="D9A566">
              <a:alpha val="12000"/>
            </a:srgbClr>
          </a:solidFill>
          <a:ln/>
        </p:spPr>
      </p:sp>
      <p:sp>
        <p:nvSpPr>
          <p:cNvPr id="7" name="Shape 5"/>
          <p:cNvSpPr/>
          <p:nvPr/>
        </p:nvSpPr>
        <p:spPr>
          <a:xfrm>
            <a:off x="548640" y="502920"/>
            <a:ext cx="777240" cy="777240"/>
          </a:xfrm>
          <a:prstGeom prst="hexagon">
            <a:avLst/>
          </a:prstGeom>
          <a:solidFill>
            <a:srgbClr val="B85042"/>
          </a:solidFill>
          <a:ln/>
        </p:spPr>
      </p:sp>
      <p:sp>
        <p:nvSpPr>
          <p:cNvPr id="8" name="Text 6"/>
          <p:cNvSpPr/>
          <p:nvPr/>
        </p:nvSpPr>
        <p:spPr>
          <a:xfrm>
            <a:off x="548640" y="50292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554480" y="457200"/>
            <a:ext cx="10058400" cy="457200"/>
          </a:xfrm>
          <a:prstGeom prst="rect">
            <a:avLst/>
          </a:prstGeom>
          <a:noFill/>
          <a:ln/>
        </p:spPr>
        <p:txBody>
          <a:bodyPr wrap="square" lIns="0" tIns="0" rIns="0" bIns="0" rtlCol="0" anchor="ctr"/>
          <a:lstStyle/>
          <a:p>
            <a:pPr indent="0" marL="0">
              <a:buNone/>
            </a:pPr>
            <a:r>
              <a:rPr lang="en-US" sz="1300" b="1" spc="200" kern="0" dirty="0">
                <a:solidFill>
                  <a:srgbClr val="D9A566"/>
                </a:solidFill>
                <a:latin typeface="Calibri" pitchFamily="34" charset="0"/>
                <a:ea typeface="Calibri" pitchFamily="34" charset="-122"/>
                <a:cs typeface="Calibri" pitchFamily="34" charset="-120"/>
              </a:rPr>
              <a:t>CAFE SITE SELECTION, WITHOUT THE GUESSWORK</a:t>
            </a:r>
            <a:endParaRPr lang="en-US" sz="1300" dirty="0"/>
          </a:p>
        </p:txBody>
      </p:sp>
      <p:sp>
        <p:nvSpPr>
          <p:cNvPr id="10" name="Text 8"/>
          <p:cNvSpPr/>
          <p:nvPr/>
        </p:nvSpPr>
        <p:spPr>
          <a:xfrm>
            <a:off x="1554480" y="868680"/>
            <a:ext cx="1005840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Finding Lahore's Hidden Cafe Hotspots</a:t>
            </a:r>
            <a:endParaRPr lang="en-US" sz="3800" dirty="0"/>
          </a:p>
        </p:txBody>
      </p:sp>
      <p:sp>
        <p:nvSpPr>
          <p:cNvPr id="11" name="Text 9"/>
          <p:cNvSpPr/>
          <p:nvPr/>
        </p:nvSpPr>
        <p:spPr>
          <a:xfrm>
            <a:off x="548640" y="2148840"/>
            <a:ext cx="5120640" cy="365760"/>
          </a:xfrm>
          <a:prstGeom prst="rect">
            <a:avLst/>
          </a:prstGeom>
          <a:noFill/>
          <a:ln/>
        </p:spPr>
        <p:txBody>
          <a:bodyPr wrap="square" lIns="0" tIns="0" rIns="0" bIns="0" rtlCol="0" anchor="ctr"/>
          <a:lstStyle/>
          <a:p>
            <a:pPr indent="0" marL="0">
              <a:buNone/>
            </a:pPr>
            <a:r>
              <a:rPr lang="en-US" sz="1400" b="1" dirty="0">
                <a:solidFill>
                  <a:srgbClr val="D9A566"/>
                </a:solidFill>
                <a:latin typeface="Calibri" pitchFamily="34" charset="0"/>
                <a:ea typeface="Calibri" pitchFamily="34" charset="-122"/>
                <a:cs typeface="Calibri" pitchFamily="34" charset="-120"/>
              </a:rPr>
              <a:t>Problem</a:t>
            </a:r>
            <a:endParaRPr lang="en-US" sz="1400" dirty="0"/>
          </a:p>
        </p:txBody>
      </p:sp>
      <p:sp>
        <p:nvSpPr>
          <p:cNvPr id="12" name="Text 10"/>
          <p:cNvSpPr/>
          <p:nvPr/>
        </p:nvSpPr>
        <p:spPr>
          <a:xfrm>
            <a:off x="548640" y="2514600"/>
            <a:ext cx="5120640" cy="1463040"/>
          </a:xfrm>
          <a:prstGeom prst="rect">
            <a:avLst/>
          </a:prstGeom>
          <a:noFill/>
          <a:ln/>
        </p:spPr>
        <p:txBody>
          <a:bodyPr wrap="square" lIns="0" tIns="0" rIns="0" bIns="0" rtlCol="0" anchor="ctr"/>
          <a:lstStyle/>
          <a:p>
            <a:pPr indent="0" marL="0">
              <a:lnSpc>
                <a:spcPct val="125000"/>
              </a:lnSpc>
              <a:buNone/>
            </a:pPr>
            <a:r>
              <a:rPr lang="en-US" sz="1600" dirty="0">
                <a:solidFill>
                  <a:srgbClr val="DCE3E8"/>
                </a:solidFill>
                <a:latin typeface="Calibri" pitchFamily="34" charset="0"/>
                <a:ea typeface="Calibri" pitchFamily="34" charset="-122"/>
                <a:cs typeface="Calibri" pitchFamily="34" charset="-120"/>
              </a:rPr>
              <a:t>Site selection for new cafes in Lahore is still driven by gut feeling, manual scouting, and copying competitors' locations — not data.</a:t>
            </a:r>
            <a:endParaRPr lang="en-US" sz="1600" dirty="0"/>
          </a:p>
        </p:txBody>
      </p:sp>
      <p:sp>
        <p:nvSpPr>
          <p:cNvPr id="13" name="Text 11"/>
          <p:cNvSpPr/>
          <p:nvPr/>
        </p:nvSpPr>
        <p:spPr>
          <a:xfrm>
            <a:off x="6126480" y="2148840"/>
            <a:ext cx="5486400" cy="365760"/>
          </a:xfrm>
          <a:prstGeom prst="rect">
            <a:avLst/>
          </a:prstGeom>
          <a:noFill/>
          <a:ln/>
        </p:spPr>
        <p:txBody>
          <a:bodyPr wrap="square" lIns="0" tIns="0" rIns="0" bIns="0" rtlCol="0" anchor="ctr"/>
          <a:lstStyle/>
          <a:p>
            <a:pPr indent="0" marL="0">
              <a:buNone/>
            </a:pPr>
            <a:r>
              <a:rPr lang="en-US" sz="1400" b="1" dirty="0">
                <a:solidFill>
                  <a:srgbClr val="D9A566"/>
                </a:solidFill>
                <a:latin typeface="Calibri" pitchFamily="34" charset="0"/>
                <a:ea typeface="Calibri" pitchFamily="34" charset="-122"/>
                <a:cs typeface="Calibri" pitchFamily="34" charset="-120"/>
              </a:rPr>
              <a:t>Objective</a:t>
            </a:r>
            <a:endParaRPr lang="en-US" sz="1400" dirty="0"/>
          </a:p>
        </p:txBody>
      </p:sp>
      <p:sp>
        <p:nvSpPr>
          <p:cNvPr id="14" name="Text 12"/>
          <p:cNvSpPr/>
          <p:nvPr/>
        </p:nvSpPr>
        <p:spPr>
          <a:xfrm>
            <a:off x="6126480" y="2514600"/>
            <a:ext cx="5486400" cy="2194560"/>
          </a:xfrm>
          <a:prstGeom prst="rect">
            <a:avLst/>
          </a:prstGeom>
          <a:noFill/>
          <a:ln/>
        </p:spPr>
        <p:txBody>
          <a:bodyPr wrap="square" lIns="0" tIns="0" rIns="0" bIns="0" rtlCol="0" anchor="ctr"/>
          <a:lstStyle/>
          <a:p>
            <a:pPr indent="0" marL="0">
              <a:lnSpc>
                <a:spcPct val="125000"/>
              </a:lnSpc>
              <a:buNone/>
            </a:pPr>
            <a:r>
              <a:rPr lang="en-US" sz="1600" dirty="0">
                <a:solidFill>
                  <a:srgbClr val="DCE3E8"/>
                </a:solidFill>
                <a:latin typeface="Calibri" pitchFamily="34" charset="0"/>
                <a:ea typeface="Calibri" pitchFamily="34" charset="-122"/>
                <a:cs typeface="Calibri" pitchFamily="34" charset="-120"/>
              </a:rPr>
              <a:t>Use Positive-Unlabeled machine learning over a custom Lahore geodataset to rank every part of the city by its likelihood of supporting a successful luxury cafe — surfacing “blue ocean” sites the market hasn't found yet, not just copies of existing clusters.</a:t>
            </a:r>
            <a:endParaRPr lang="en-US" sz="1600" dirty="0"/>
          </a:p>
        </p:txBody>
      </p:sp>
      <p:sp>
        <p:nvSpPr>
          <p:cNvPr id="15" name="Shape 13"/>
          <p:cNvSpPr/>
          <p:nvPr/>
        </p:nvSpPr>
        <p:spPr>
          <a:xfrm>
            <a:off x="548640" y="4892040"/>
            <a:ext cx="11064240" cy="1051560"/>
          </a:xfrm>
          <a:prstGeom prst="roundRect">
            <a:avLst>
              <a:gd name="adj" fmla="val 6957"/>
            </a:avLst>
          </a:prstGeom>
          <a:solidFill>
            <a:srgbClr val="24384A"/>
          </a:solidFill>
          <a:ln/>
          <a:effectLst>
            <a:outerShdw sx="100000" sy="100000" kx="0" ky="0" algn="bl" rotWithShape="0" blurRad="101600" dist="38100" dir="5400000">
              <a:srgbClr val="000000">
                <a:alpha val="12000"/>
              </a:srgbClr>
            </a:outerShdw>
          </a:effectLst>
        </p:spPr>
      </p:sp>
      <p:sp>
        <p:nvSpPr>
          <p:cNvPr id="16" name="Text 14"/>
          <p:cNvSpPr/>
          <p:nvPr/>
        </p:nvSpPr>
        <p:spPr>
          <a:xfrm>
            <a:off x="822960" y="4892040"/>
            <a:ext cx="10515600" cy="1051560"/>
          </a:xfrm>
          <a:prstGeom prst="rect">
            <a:avLst/>
          </a:prstGeom>
          <a:noFill/>
          <a:ln/>
        </p:spPr>
        <p:txBody>
          <a:bodyPr wrap="square" lIns="0" tIns="0" rIns="0" bIns="0" rtlCol="0" anchor="ctr"/>
          <a:lstStyle/>
          <a:p>
            <a:pPr indent="0" marL="0">
              <a:buNone/>
            </a:pPr>
            <a:r>
              <a:rPr lang="en-US" sz="1500" b="1" dirty="0">
                <a:solidFill>
                  <a:srgbClr val="D9A566"/>
                </a:solidFill>
                <a:latin typeface="Calibri" pitchFamily="34" charset="0"/>
                <a:ea typeface="Calibri" pitchFamily="34" charset="-122"/>
                <a:cs typeface="Calibri" pitchFamily="34" charset="-120"/>
              </a:rPr>
              <a:t>Team: </a:t>
            </a:r>
            <a:pPr indent="0" marL="0">
              <a:buNone/>
            </a:pPr>
            <a:r>
              <a:rPr lang="en-US" sz="1500" dirty="0">
                <a:solidFill>
                  <a:srgbClr val="FFFFFF"/>
                </a:solidFill>
                <a:latin typeface="Calibri" pitchFamily="34" charset="0"/>
                <a:ea typeface="Calibri" pitchFamily="34" charset="-122"/>
                <a:cs typeface="Calibri" pitchFamily="34" charset="-120"/>
              </a:rPr>
              <a:t>Abuhurairah Faheem (BSCS23077)   •   Muhammad Ammar Bin Talib (BSCS23143)</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hexagon">
            <a:avLst/>
          </a:prstGeom>
          <a:solidFill>
            <a:srgbClr val="B85042"/>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p:nvPr/>
        </p:nvSpPr>
        <p:spPr>
          <a:xfrm>
            <a:off x="1234440" y="411480"/>
            <a:ext cx="10332720" cy="640080"/>
          </a:xfrm>
          <a:prstGeom prst="rect">
            <a:avLst/>
          </a:prstGeom>
          <a:noFill/>
          <a:ln/>
        </p:spPr>
        <p:txBody>
          <a:bodyPr wrap="square" lIns="0" tIns="0" rIns="0" bIns="0" rtlCol="0" anchor="ctr"/>
          <a:lstStyle/>
          <a:p>
            <a:pPr indent="0" marL="0">
              <a:buNone/>
            </a:pPr>
            <a:r>
              <a:rPr lang="en-US" sz="3000" b="1" dirty="0">
                <a:solidFill>
                  <a:srgbClr val="1C3144"/>
                </a:solidFill>
                <a:latin typeface="Cambria" pitchFamily="34" charset="0"/>
                <a:ea typeface="Cambria" pitchFamily="34" charset="-122"/>
                <a:cs typeface="Cambria" pitchFamily="34" charset="-120"/>
              </a:rPr>
              <a:t>We Built This Dataset From Scratch</a:t>
            </a:r>
            <a:endParaRPr lang="en-US" sz="3000" dirty="0"/>
          </a:p>
        </p:txBody>
      </p:sp>
      <p:sp>
        <p:nvSpPr>
          <p:cNvPr id="5" name="Text 3"/>
          <p:cNvSpPr/>
          <p:nvPr/>
        </p:nvSpPr>
        <p:spPr>
          <a:xfrm>
            <a:off x="1234440" y="960120"/>
            <a:ext cx="10332720" cy="457200"/>
          </a:xfrm>
          <a:prstGeom prst="rect">
            <a:avLst/>
          </a:prstGeom>
          <a:noFill/>
          <a:ln/>
        </p:spPr>
        <p:txBody>
          <a:bodyPr wrap="square" lIns="0" tIns="0" rIns="0" bIns="0" rtlCol="0" anchor="ctr"/>
          <a:lstStyle/>
          <a:p>
            <a:pPr indent="0" marL="0">
              <a:buNone/>
            </a:pPr>
            <a:r>
              <a:rPr lang="en-US" sz="1350" i="1" dirty="0">
                <a:solidFill>
                  <a:srgbClr val="5B6B73"/>
                </a:solidFill>
                <a:latin typeface="Calibri" pitchFamily="34" charset="0"/>
                <a:ea typeface="Calibri" pitchFamily="34" charset="-122"/>
                <a:cs typeface="Calibri" pitchFamily="34" charset="-120"/>
              </a:rPr>
              <a:t>No pre-existing dataset solves this problem for Lahore — every row below was compiled, cleaned, and engineered by the team.</a:t>
            </a:r>
            <a:endParaRPr lang="en-US" sz="1350" dirty="0"/>
          </a:p>
        </p:txBody>
      </p:sp>
      <p:sp>
        <p:nvSpPr>
          <p:cNvPr id="6" name="Shape 4"/>
          <p:cNvSpPr/>
          <p:nvPr/>
        </p:nvSpPr>
        <p:spPr>
          <a:xfrm>
            <a:off x="548640" y="1691640"/>
            <a:ext cx="3383280" cy="1554480"/>
          </a:xfrm>
          <a:prstGeom prst="roundRect">
            <a:avLst>
              <a:gd name="adj" fmla="val 4706"/>
            </a:avLst>
          </a:prstGeom>
          <a:solidFill>
            <a:srgbClr val="F7F3F0"/>
          </a:solidFill>
          <a:ln/>
          <a:effectLst>
            <a:outerShdw sx="100000" sy="100000" kx="0" ky="0" algn="bl" rotWithShape="0" blurRad="101600" dist="38100" dir="5400000">
              <a:srgbClr val="000000">
                <a:alpha val="12000"/>
              </a:srgbClr>
            </a:outerShdw>
          </a:effectLst>
        </p:spPr>
      </p:sp>
      <p:sp>
        <p:nvSpPr>
          <p:cNvPr id="7" name="Text 5"/>
          <p:cNvSpPr/>
          <p:nvPr/>
        </p:nvSpPr>
        <p:spPr>
          <a:xfrm>
            <a:off x="548640" y="1783080"/>
            <a:ext cx="3383280" cy="777240"/>
          </a:xfrm>
          <a:prstGeom prst="rect">
            <a:avLst/>
          </a:prstGeom>
          <a:noFill/>
          <a:ln/>
        </p:spPr>
        <p:txBody>
          <a:bodyPr wrap="square" lIns="0" tIns="0" rIns="0" bIns="0" rtlCol="0" anchor="ctr"/>
          <a:lstStyle/>
          <a:p>
            <a:pPr algn="ctr" indent="0" marL="0">
              <a:buNone/>
            </a:pPr>
            <a:r>
              <a:rPr lang="en-US" sz="3800" b="1" dirty="0">
                <a:solidFill>
                  <a:srgbClr val="B85042"/>
                </a:solidFill>
                <a:latin typeface="Cambria" pitchFamily="34" charset="0"/>
                <a:ea typeface="Cambria" pitchFamily="34" charset="-122"/>
                <a:cs typeface="Cambria" pitchFamily="34" charset="-120"/>
              </a:rPr>
              <a:t>10</a:t>
            </a:r>
            <a:endParaRPr lang="en-US" sz="3800" dirty="0"/>
          </a:p>
        </p:txBody>
      </p:sp>
      <p:sp>
        <p:nvSpPr>
          <p:cNvPr id="8" name="Text 6"/>
          <p:cNvSpPr/>
          <p:nvPr/>
        </p:nvSpPr>
        <p:spPr>
          <a:xfrm>
            <a:off x="548640" y="2560320"/>
            <a:ext cx="3383280" cy="640080"/>
          </a:xfrm>
          <a:prstGeom prst="rect">
            <a:avLst/>
          </a:prstGeom>
          <a:noFill/>
          <a:ln/>
        </p:spPr>
        <p:txBody>
          <a:bodyPr wrap="square" lIns="0" tIns="0" rIns="0" bIns="0" rtlCol="0" anchor="ctr"/>
          <a:lstStyle/>
          <a:p>
            <a:pPr algn="ctr" indent="0" marL="0">
              <a:buNone/>
            </a:pPr>
            <a:r>
              <a:rPr lang="en-US" sz="1150" dirty="0">
                <a:solidFill>
                  <a:srgbClr val="5B6B73"/>
                </a:solidFill>
                <a:latin typeface="Calibri" pitchFamily="34" charset="0"/>
                <a:ea typeface="Calibri" pitchFamily="34" charset="-122"/>
                <a:cs typeface="Calibri" pitchFamily="34" charset="-120"/>
              </a:rPr>
              <a:t>raw sources merged</a:t>
            </a:r>
            <a:endParaRPr lang="en-US" sz="1150" dirty="0"/>
          </a:p>
          <a:p>
            <a:pPr algn="ctr" indent="0" marL="0">
              <a:buNone/>
            </a:pPr>
            <a:r>
              <a:rPr lang="en-US" sz="1150" dirty="0">
                <a:solidFill>
                  <a:srgbClr val="5B6B73"/>
                </a:solidFill>
                <a:latin typeface="Calibri" pitchFamily="34" charset="0"/>
                <a:ea typeface="Calibri" pitchFamily="34" charset="-122"/>
                <a:cs typeface="Calibri" pitchFamily="34" charset="-120"/>
              </a:rPr>
              <a:t>(OSM, Kontur, Graana)</a:t>
            </a:r>
            <a:endParaRPr lang="en-US" sz="1150" dirty="0"/>
          </a:p>
        </p:txBody>
      </p:sp>
      <p:sp>
        <p:nvSpPr>
          <p:cNvPr id="9" name="Shape 7"/>
          <p:cNvSpPr/>
          <p:nvPr/>
        </p:nvSpPr>
        <p:spPr>
          <a:xfrm>
            <a:off x="4251960" y="1691640"/>
            <a:ext cx="3383280" cy="1554480"/>
          </a:xfrm>
          <a:prstGeom prst="roundRect">
            <a:avLst>
              <a:gd name="adj" fmla="val 4706"/>
            </a:avLst>
          </a:prstGeom>
          <a:solidFill>
            <a:srgbClr val="F7F3F0"/>
          </a:solidFill>
          <a:ln/>
          <a:effectLst>
            <a:outerShdw sx="100000" sy="100000" kx="0" ky="0" algn="bl" rotWithShape="0" blurRad="101600" dist="38100" dir="5400000">
              <a:srgbClr val="000000">
                <a:alpha val="12000"/>
              </a:srgbClr>
            </a:outerShdw>
          </a:effectLst>
        </p:spPr>
      </p:sp>
      <p:sp>
        <p:nvSpPr>
          <p:cNvPr id="10" name="Text 8"/>
          <p:cNvSpPr/>
          <p:nvPr/>
        </p:nvSpPr>
        <p:spPr>
          <a:xfrm>
            <a:off x="4251960" y="1783080"/>
            <a:ext cx="3383280" cy="777240"/>
          </a:xfrm>
          <a:prstGeom prst="rect">
            <a:avLst/>
          </a:prstGeom>
          <a:noFill/>
          <a:ln/>
        </p:spPr>
        <p:txBody>
          <a:bodyPr wrap="square" lIns="0" tIns="0" rIns="0" bIns="0" rtlCol="0" anchor="ctr"/>
          <a:lstStyle/>
          <a:p>
            <a:pPr algn="ctr" indent="0" marL="0">
              <a:buNone/>
            </a:pPr>
            <a:r>
              <a:rPr lang="en-US" sz="3800" b="1" dirty="0">
                <a:solidFill>
                  <a:srgbClr val="B85042"/>
                </a:solidFill>
                <a:latin typeface="Cambria" pitchFamily="34" charset="0"/>
                <a:ea typeface="Cambria" pitchFamily="34" charset="-122"/>
                <a:cs typeface="Cambria" pitchFamily="34" charset="-120"/>
              </a:rPr>
              <a:t>3,691</a:t>
            </a:r>
            <a:endParaRPr lang="en-US" sz="3800" dirty="0"/>
          </a:p>
        </p:txBody>
      </p:sp>
      <p:sp>
        <p:nvSpPr>
          <p:cNvPr id="11" name="Text 9"/>
          <p:cNvSpPr/>
          <p:nvPr/>
        </p:nvSpPr>
        <p:spPr>
          <a:xfrm>
            <a:off x="4251960" y="2560320"/>
            <a:ext cx="3383280" cy="640080"/>
          </a:xfrm>
          <a:prstGeom prst="rect">
            <a:avLst/>
          </a:prstGeom>
          <a:noFill/>
          <a:ln/>
        </p:spPr>
        <p:txBody>
          <a:bodyPr wrap="square" lIns="0" tIns="0" rIns="0" bIns="0" rtlCol="0" anchor="ctr"/>
          <a:lstStyle/>
          <a:p>
            <a:pPr algn="ctr" indent="0" marL="0">
              <a:buNone/>
            </a:pPr>
            <a:r>
              <a:rPr lang="en-US" sz="1150" dirty="0">
                <a:solidFill>
                  <a:srgbClr val="5B6B73"/>
                </a:solidFill>
                <a:latin typeface="Calibri" pitchFamily="34" charset="0"/>
                <a:ea typeface="Calibri" pitchFamily="34" charset="-122"/>
                <a:cs typeface="Calibri" pitchFamily="34" charset="-120"/>
              </a:rPr>
              <a:t>H3 Resolution-9 hexes</a:t>
            </a:r>
            <a:endParaRPr lang="en-US" sz="1150" dirty="0"/>
          </a:p>
          <a:p>
            <a:pPr algn="ctr" indent="0" marL="0">
              <a:buNone/>
            </a:pPr>
            <a:r>
              <a:rPr lang="en-US" sz="1150" dirty="0">
                <a:solidFill>
                  <a:srgbClr val="5B6B73"/>
                </a:solidFill>
                <a:latin typeface="Calibri" pitchFamily="34" charset="0"/>
                <a:ea typeface="Calibri" pitchFamily="34" charset="-122"/>
                <a:cs typeface="Calibri" pitchFamily="34" charset="-120"/>
              </a:rPr>
              <a:t>(~174m cells) over Lahore</a:t>
            </a:r>
            <a:endParaRPr lang="en-US" sz="1150" dirty="0"/>
          </a:p>
        </p:txBody>
      </p:sp>
      <p:sp>
        <p:nvSpPr>
          <p:cNvPr id="12" name="Shape 10"/>
          <p:cNvSpPr/>
          <p:nvPr/>
        </p:nvSpPr>
        <p:spPr>
          <a:xfrm>
            <a:off x="7955280" y="1691640"/>
            <a:ext cx="3383280" cy="1554480"/>
          </a:xfrm>
          <a:prstGeom prst="roundRect">
            <a:avLst>
              <a:gd name="adj" fmla="val 4706"/>
            </a:avLst>
          </a:prstGeom>
          <a:solidFill>
            <a:srgbClr val="F7F3F0"/>
          </a:solidFill>
          <a:ln/>
          <a:effectLst>
            <a:outerShdw sx="100000" sy="100000" kx="0" ky="0" algn="bl" rotWithShape="0" blurRad="101600" dist="38100" dir="5400000">
              <a:srgbClr val="000000">
                <a:alpha val="12000"/>
              </a:srgbClr>
            </a:outerShdw>
          </a:effectLst>
        </p:spPr>
      </p:sp>
      <p:sp>
        <p:nvSpPr>
          <p:cNvPr id="13" name="Text 11"/>
          <p:cNvSpPr/>
          <p:nvPr/>
        </p:nvSpPr>
        <p:spPr>
          <a:xfrm>
            <a:off x="7955280" y="1783080"/>
            <a:ext cx="3383280" cy="777240"/>
          </a:xfrm>
          <a:prstGeom prst="rect">
            <a:avLst/>
          </a:prstGeom>
          <a:noFill/>
          <a:ln/>
        </p:spPr>
        <p:txBody>
          <a:bodyPr wrap="square" lIns="0" tIns="0" rIns="0" bIns="0" rtlCol="0" anchor="ctr"/>
          <a:lstStyle/>
          <a:p>
            <a:pPr algn="ctr" indent="0" marL="0">
              <a:buNone/>
            </a:pPr>
            <a:r>
              <a:rPr lang="en-US" sz="3800" b="1" dirty="0">
                <a:solidFill>
                  <a:srgbClr val="B85042"/>
                </a:solidFill>
                <a:latin typeface="Cambria" pitchFamily="34" charset="0"/>
                <a:ea typeface="Cambria" pitchFamily="34" charset="-122"/>
                <a:cs typeface="Cambria" pitchFamily="34" charset="-120"/>
              </a:rPr>
              <a:t>275</a:t>
            </a:r>
            <a:endParaRPr lang="en-US" sz="3800" dirty="0"/>
          </a:p>
        </p:txBody>
      </p:sp>
      <p:sp>
        <p:nvSpPr>
          <p:cNvPr id="14" name="Text 12"/>
          <p:cNvSpPr/>
          <p:nvPr/>
        </p:nvSpPr>
        <p:spPr>
          <a:xfrm>
            <a:off x="7955280" y="2560320"/>
            <a:ext cx="3383280" cy="640080"/>
          </a:xfrm>
          <a:prstGeom prst="rect">
            <a:avLst/>
          </a:prstGeom>
          <a:noFill/>
          <a:ln/>
        </p:spPr>
        <p:txBody>
          <a:bodyPr wrap="square" lIns="0" tIns="0" rIns="0" bIns="0" rtlCol="0" anchor="ctr"/>
          <a:lstStyle/>
          <a:p>
            <a:pPr algn="ctr" indent="0" marL="0">
              <a:buNone/>
            </a:pPr>
            <a:r>
              <a:rPr lang="en-US" sz="1150" dirty="0">
                <a:solidFill>
                  <a:srgbClr val="5B6B73"/>
                </a:solidFill>
                <a:latin typeface="Calibri" pitchFamily="34" charset="0"/>
                <a:ea typeface="Calibri" pitchFamily="34" charset="-122"/>
                <a:cs typeface="Calibri" pitchFamily="34" charset="-120"/>
              </a:rPr>
              <a:t>known cafes = ground-</a:t>
            </a:r>
            <a:endParaRPr lang="en-US" sz="1150" dirty="0"/>
          </a:p>
          <a:p>
            <a:pPr algn="ctr" indent="0" marL="0">
              <a:buNone/>
            </a:pPr>
            <a:r>
              <a:rPr lang="en-US" sz="1150" dirty="0">
                <a:solidFill>
                  <a:srgbClr val="5B6B73"/>
                </a:solidFill>
                <a:latin typeface="Calibri" pitchFamily="34" charset="0"/>
                <a:ea typeface="Calibri" pitchFamily="34" charset="-122"/>
                <a:cs typeface="Calibri" pitchFamily="34" charset="-120"/>
              </a:rPr>
              <a:t>truth positive labels</a:t>
            </a:r>
            <a:endParaRPr lang="en-US" sz="1150" dirty="0"/>
          </a:p>
        </p:txBody>
      </p:sp>
      <p:sp>
        <p:nvSpPr>
          <p:cNvPr id="15" name="Text 13"/>
          <p:cNvSpPr/>
          <p:nvPr/>
        </p:nvSpPr>
        <p:spPr>
          <a:xfrm>
            <a:off x="548640" y="3520440"/>
            <a:ext cx="5486400" cy="320040"/>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Preprocessing pipeline</a:t>
            </a:r>
            <a:endParaRPr lang="en-US" sz="1400" dirty="0"/>
          </a:p>
        </p:txBody>
      </p:sp>
      <p:sp>
        <p:nvSpPr>
          <p:cNvPr id="16" name="Text 14"/>
          <p:cNvSpPr/>
          <p:nvPr/>
        </p:nvSpPr>
        <p:spPr>
          <a:xfrm>
            <a:off x="548640" y="3886200"/>
            <a:ext cx="6400800" cy="2468880"/>
          </a:xfrm>
          <a:prstGeom prst="rect">
            <a:avLst/>
          </a:prstGeom>
          <a:noFill/>
          <a:ln/>
        </p:spPr>
        <p:txBody>
          <a:bodyPr wrap="square" rtlCol="0" anchor="t"/>
          <a:lstStyle/>
          <a:p>
            <a:pPr marL="228600" indent="-228600">
              <a:lnSpc>
                <a:spcPct val="112000"/>
              </a:lnSpc>
              <a:spcAft>
                <a:spcPts val="1400"/>
              </a:spcAft>
              <a:buSzPct val="100000"/>
              <a:buChar char="●"/>
            </a:pPr>
            <a:r>
              <a:rPr lang="en-US" sz="1350" dirty="0">
                <a:solidFill>
                  <a:srgbClr val="1C3144"/>
                </a:solidFill>
                <a:latin typeface="Calibri" pitchFamily="34" charset="0"/>
                <a:ea typeface="Calibri" pitchFamily="34" charset="-122"/>
                <a:cs typeface="Calibri" pitchFamily="34" charset="-120"/>
              </a:rPr>
              <a:t>Unified all 10 sources onto a single Uber H3 grid by mapping every lat/lon to its hex — one consistent spatial key for every feature</a:t>
            </a:r>
            <a:endParaRPr lang="en-US" sz="1350" dirty="0"/>
          </a:p>
          <a:p>
            <a:pPr marL="228600" indent="-228600">
              <a:lnSpc>
                <a:spcPct val="112000"/>
              </a:lnSpc>
              <a:spcAft>
                <a:spcPts val="1400"/>
              </a:spcAft>
              <a:buSzPct val="100000"/>
              <a:buChar char="●"/>
            </a:pPr>
            <a:r>
              <a:rPr lang="en-US" sz="1350" dirty="0">
                <a:solidFill>
                  <a:srgbClr val="1C3144"/>
                </a:solidFill>
                <a:latin typeface="Calibri" pitchFamily="34" charset="0"/>
                <a:ea typeface="Calibri" pitchFamily="34" charset="-122"/>
                <a:cs typeface="Calibri" pitchFamily="34" charset="-120"/>
              </a:rPr>
              <a:t>Missing rent values filled with Inverse-Distance-Weighted (IDW) interpolation, not naive averaging — nearby real listings pull harder than distant ones</a:t>
            </a:r>
            <a:endParaRPr lang="en-US" sz="1350" dirty="0"/>
          </a:p>
          <a:p>
            <a:pPr marL="228600" indent="-228600">
              <a:lnSpc>
                <a:spcPct val="112000"/>
              </a:lnSpc>
              <a:spcAft>
                <a:spcPts val="1400"/>
              </a:spcAft>
              <a:buSzPct val="100000"/>
              <a:buChar char="●"/>
            </a:pPr>
            <a:r>
              <a:rPr lang="en-US" sz="1350" dirty="0">
                <a:solidFill>
                  <a:srgbClr val="1C3144"/>
                </a:solidFill>
                <a:latin typeface="Calibri" pitchFamily="34" charset="0"/>
                <a:ea typeface="Calibri" pitchFamily="34" charset="-122"/>
                <a:cs typeface="Calibri" pitchFamily="34" charset="-120"/>
              </a:rPr>
              <a:t>Added continuous spatial embeddings (hex centroid lat/lon, Haversine distance to Liberty Roundabout CBD) so no two empty hexes can ever be mathematical twins</a:t>
            </a:r>
            <a:endParaRPr lang="en-US" sz="1350" dirty="0"/>
          </a:p>
        </p:txBody>
      </p:sp>
      <p:sp>
        <p:nvSpPr>
          <p:cNvPr id="17" name="Shape 15"/>
          <p:cNvSpPr/>
          <p:nvPr/>
        </p:nvSpPr>
        <p:spPr>
          <a:xfrm>
            <a:off x="7269480" y="3520440"/>
            <a:ext cx="4370832" cy="2834640"/>
          </a:xfrm>
          <a:prstGeom prst="roundRect">
            <a:avLst>
              <a:gd name="adj" fmla="val 2581"/>
            </a:avLst>
          </a:prstGeom>
          <a:solidFill>
            <a:srgbClr val="1C3144"/>
          </a:solidFill>
          <a:ln/>
          <a:effectLst>
            <a:outerShdw sx="100000" sy="100000" kx="0" ky="0" algn="bl" rotWithShape="0" blurRad="101600" dist="38100" dir="5400000">
              <a:srgbClr val="000000">
                <a:alpha val="12000"/>
              </a:srgbClr>
            </a:outerShdw>
          </a:effectLst>
        </p:spPr>
      </p:sp>
      <p:sp>
        <p:nvSpPr>
          <p:cNvPr id="18" name="Text 16"/>
          <p:cNvSpPr/>
          <p:nvPr/>
        </p:nvSpPr>
        <p:spPr>
          <a:xfrm>
            <a:off x="7543800" y="3703320"/>
            <a:ext cx="3840480" cy="320040"/>
          </a:xfrm>
          <a:prstGeom prst="rect">
            <a:avLst/>
          </a:prstGeom>
          <a:noFill/>
          <a:ln/>
        </p:spPr>
        <p:txBody>
          <a:bodyPr wrap="square" lIns="0" tIns="0" rIns="0" bIns="0" rtlCol="0" anchor="ctr"/>
          <a:lstStyle/>
          <a:p>
            <a:pPr indent="0" marL="0">
              <a:buNone/>
            </a:pPr>
            <a:r>
              <a:rPr lang="en-US" sz="1300" b="1" dirty="0">
                <a:solidFill>
                  <a:srgbClr val="D9A566"/>
                </a:solidFill>
                <a:latin typeface="Calibri" pitchFamily="34" charset="0"/>
                <a:ea typeface="Calibri" pitchFamily="34" charset="-122"/>
                <a:cs typeface="Calibri" pitchFamily="34" charset="-120"/>
              </a:rPr>
              <a:t>Why this matters</a:t>
            </a:r>
            <a:endParaRPr lang="en-US" sz="1300" dirty="0"/>
          </a:p>
        </p:txBody>
      </p:sp>
      <p:sp>
        <p:nvSpPr>
          <p:cNvPr id="19" name="Text 17"/>
          <p:cNvSpPr/>
          <p:nvPr/>
        </p:nvSpPr>
        <p:spPr>
          <a:xfrm>
            <a:off x="7543800" y="4069080"/>
            <a:ext cx="3840480" cy="2103120"/>
          </a:xfrm>
          <a:prstGeom prst="rect">
            <a:avLst/>
          </a:prstGeom>
          <a:noFill/>
          <a:ln/>
        </p:spPr>
        <p:txBody>
          <a:bodyPr wrap="square" lIns="0" tIns="0" rIns="0" bIns="0" rtlCol="0" anchor="ctr"/>
          <a:lstStyle/>
          <a:p>
            <a:pPr indent="0" marL="0">
              <a:lnSpc>
                <a:spcPct val="130000"/>
              </a:lnSpc>
              <a:buNone/>
            </a:pPr>
            <a:r>
              <a:rPr lang="en-US" sz="1300" dirty="0">
                <a:solidFill>
                  <a:srgbClr val="DCE3E8"/>
                </a:solidFill>
                <a:latin typeface="Calibri" pitchFamily="34" charset="0"/>
                <a:ea typeface="Calibri" pitchFamily="34" charset="-122"/>
                <a:cs typeface="Calibri" pitchFamily="34" charset="-120"/>
              </a:rPr>
              <a:t>Off-the-shelf demographic or POI datasets don't exist at this resolution for Lahore. Building it ourselves was the majority of the engineering effort — and the part that made everything downstream possible.</a:t>
            </a:r>
            <a:endParaRPr lang="en-US" sz="1300" dirty="0"/>
          </a:p>
        </p:txBody>
      </p:sp>
      <p:sp>
        <p:nvSpPr>
          <p:cNvPr id="20" name="Text 1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GeoSpatial AI Site Selection  |  Lahore Luxury Cafes</a:t>
            </a:r>
            <a:endParaRPr lang="en-US" sz="900" dirty="0"/>
          </a:p>
        </p:txBody>
      </p:sp>
      <p:sp>
        <p:nvSpPr>
          <p:cNvPr id="21" name="Text 19"/>
          <p:cNvSpPr/>
          <p:nvPr/>
        </p:nvSpPr>
        <p:spPr>
          <a:xfrm>
            <a:off x="11365992" y="6473952"/>
            <a:ext cx="36576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hexagon">
            <a:avLst/>
          </a:prstGeom>
          <a:solidFill>
            <a:srgbClr val="B85042"/>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p:nvPr/>
        </p:nvSpPr>
        <p:spPr>
          <a:xfrm>
            <a:off x="1234440" y="411480"/>
            <a:ext cx="10332720" cy="640080"/>
          </a:xfrm>
          <a:prstGeom prst="rect">
            <a:avLst/>
          </a:prstGeom>
          <a:noFill/>
          <a:ln/>
        </p:spPr>
        <p:txBody>
          <a:bodyPr wrap="square" lIns="0" tIns="0" rIns="0" bIns="0" rtlCol="0" anchor="ctr"/>
          <a:lstStyle/>
          <a:p>
            <a:pPr indent="0" marL="0">
              <a:buNone/>
            </a:pPr>
            <a:r>
              <a:rPr lang="en-US" sz="2800" b="1" dirty="0">
                <a:solidFill>
                  <a:srgbClr val="1C3144"/>
                </a:solidFill>
                <a:latin typeface="Cambria" pitchFamily="34" charset="0"/>
                <a:ea typeface="Cambria" pitchFamily="34" charset="-122"/>
                <a:cs typeface="Cambria" pitchFamily="34" charset="-120"/>
              </a:rPr>
              <a:t>Methodology: PU Learning + XGBoost Bagging</a:t>
            </a:r>
            <a:endParaRPr lang="en-US" sz="2800" dirty="0"/>
          </a:p>
        </p:txBody>
      </p:sp>
      <p:sp>
        <p:nvSpPr>
          <p:cNvPr id="5" name="Text 3"/>
          <p:cNvSpPr/>
          <p:nvPr/>
        </p:nvSpPr>
        <p:spPr>
          <a:xfrm>
            <a:off x="1234440" y="960120"/>
            <a:ext cx="10332720" cy="411480"/>
          </a:xfrm>
          <a:prstGeom prst="rect">
            <a:avLst/>
          </a:prstGeom>
          <a:noFill/>
          <a:ln/>
        </p:spPr>
        <p:txBody>
          <a:bodyPr wrap="square" lIns="0" tIns="0" rIns="0" bIns="0" rtlCol="0" anchor="ctr"/>
          <a:lstStyle/>
          <a:p>
            <a:pPr indent="0" marL="0">
              <a:buNone/>
            </a:pPr>
            <a:r>
              <a:rPr lang="en-US" sz="1350" i="1" dirty="0">
                <a:solidFill>
                  <a:srgbClr val="5B6B73"/>
                </a:solidFill>
                <a:latin typeface="Calibri" pitchFamily="34" charset="0"/>
                <a:ea typeface="Calibri" pitchFamily="34" charset="-122"/>
                <a:cs typeface="Calibri" pitchFamily="34" charset="-120"/>
              </a:rPr>
              <a:t>Baseline: Logistic Regression.  Proposed: XGBoost via Spy + Weighted Bagging.</a:t>
            </a:r>
            <a:endParaRPr lang="en-US" sz="1350" dirty="0"/>
          </a:p>
        </p:txBody>
      </p:sp>
      <p:sp>
        <p:nvSpPr>
          <p:cNvPr id="6" name="Shape 4"/>
          <p:cNvSpPr/>
          <p:nvPr/>
        </p:nvSpPr>
        <p:spPr>
          <a:xfrm>
            <a:off x="548640" y="1874520"/>
            <a:ext cx="2606040" cy="1874520"/>
          </a:xfrm>
          <a:prstGeom prst="roundRect">
            <a:avLst>
              <a:gd name="adj" fmla="val 3902"/>
            </a:avLst>
          </a:prstGeom>
          <a:solidFill>
            <a:srgbClr val="F7F3F0"/>
          </a:solidFill>
          <a:ln/>
          <a:effectLst>
            <a:outerShdw sx="100000" sy="100000" kx="0" ky="0" algn="bl" rotWithShape="0" blurRad="101600" dist="38100" dir="5400000">
              <a:srgbClr val="000000">
                <a:alpha val="12000"/>
              </a:srgbClr>
            </a:outerShdw>
          </a:effectLst>
        </p:spPr>
      </p:sp>
      <p:sp>
        <p:nvSpPr>
          <p:cNvPr id="7" name="Shape 5"/>
          <p:cNvSpPr/>
          <p:nvPr/>
        </p:nvSpPr>
        <p:spPr>
          <a:xfrm>
            <a:off x="1604772" y="2075688"/>
            <a:ext cx="493776" cy="493776"/>
          </a:xfrm>
          <a:prstGeom prst="hexagon">
            <a:avLst/>
          </a:prstGeom>
          <a:solidFill>
            <a:srgbClr val="B85042"/>
          </a:solidFill>
          <a:ln/>
        </p:spPr>
      </p:sp>
      <p:sp>
        <p:nvSpPr>
          <p:cNvPr id="8" name="Text 6"/>
          <p:cNvSpPr/>
          <p:nvPr/>
        </p:nvSpPr>
        <p:spPr>
          <a:xfrm>
            <a:off x="1604772" y="207568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685800" y="2697480"/>
            <a:ext cx="2331720" cy="365760"/>
          </a:xfrm>
          <a:prstGeom prst="rect">
            <a:avLst/>
          </a:prstGeom>
          <a:noFill/>
          <a:ln/>
        </p:spPr>
        <p:txBody>
          <a:bodyPr wrap="square" lIns="0" tIns="0" rIns="0" bIns="0" rtlCol="0" anchor="ctr"/>
          <a:lstStyle/>
          <a:p>
            <a:pPr algn="ctr" indent="0" marL="0">
              <a:buNone/>
            </a:pPr>
            <a:r>
              <a:rPr lang="en-US" sz="1350" b="1" dirty="0">
                <a:solidFill>
                  <a:srgbClr val="1C3144"/>
                </a:solidFill>
                <a:latin typeface="Calibri" pitchFamily="34" charset="0"/>
                <a:ea typeface="Calibri" pitchFamily="34" charset="-122"/>
                <a:cs typeface="Calibri" pitchFamily="34" charset="-120"/>
              </a:rPr>
              <a:t>Spy Step</a:t>
            </a:r>
            <a:endParaRPr lang="en-US" sz="1350" dirty="0"/>
          </a:p>
        </p:txBody>
      </p:sp>
      <p:sp>
        <p:nvSpPr>
          <p:cNvPr id="10" name="Text 8"/>
          <p:cNvSpPr/>
          <p:nvPr/>
        </p:nvSpPr>
        <p:spPr>
          <a:xfrm>
            <a:off x="685800" y="3063240"/>
            <a:ext cx="2331720" cy="64008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Hide a slice of known cafes to find the score threshold of a true negative</a:t>
            </a:r>
            <a:endParaRPr lang="en-US" sz="1050" dirty="0"/>
          </a:p>
        </p:txBody>
      </p:sp>
      <p:sp>
        <p:nvSpPr>
          <p:cNvPr id="11" name="Text 9"/>
          <p:cNvSpPr/>
          <p:nvPr/>
        </p:nvSpPr>
        <p:spPr>
          <a:xfrm>
            <a:off x="3159252" y="2583180"/>
            <a:ext cx="237744" cy="457200"/>
          </a:xfrm>
          <a:prstGeom prst="rect">
            <a:avLst/>
          </a:prstGeom>
          <a:noFill/>
          <a:ln/>
        </p:spPr>
        <p:txBody>
          <a:bodyPr wrap="square" lIns="0" tIns="0" rIns="0" bIns="0" rtlCol="0" anchor="ctr"/>
          <a:lstStyle/>
          <a:p>
            <a:pPr algn="ctr" indent="0" marL="0">
              <a:buNone/>
            </a:pPr>
            <a:r>
              <a:rPr lang="en-US" sz="2000" b="1" dirty="0">
                <a:solidFill>
                  <a:srgbClr val="B85042"/>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3401568" y="1874520"/>
            <a:ext cx="2606040" cy="1874520"/>
          </a:xfrm>
          <a:prstGeom prst="roundRect">
            <a:avLst>
              <a:gd name="adj" fmla="val 3902"/>
            </a:avLst>
          </a:prstGeom>
          <a:solidFill>
            <a:srgbClr val="F7F3F0"/>
          </a:solidFill>
          <a:ln/>
          <a:effectLst>
            <a:outerShdw sx="100000" sy="100000" kx="0" ky="0" algn="bl" rotWithShape="0" blurRad="101600" dist="38100" dir="5400000">
              <a:srgbClr val="000000">
                <a:alpha val="12000"/>
              </a:srgbClr>
            </a:outerShdw>
          </a:effectLst>
        </p:spPr>
      </p:sp>
      <p:sp>
        <p:nvSpPr>
          <p:cNvPr id="13" name="Shape 11"/>
          <p:cNvSpPr/>
          <p:nvPr/>
        </p:nvSpPr>
        <p:spPr>
          <a:xfrm>
            <a:off x="4457700" y="2075688"/>
            <a:ext cx="493776" cy="493776"/>
          </a:xfrm>
          <a:prstGeom prst="hexagon">
            <a:avLst/>
          </a:prstGeom>
          <a:solidFill>
            <a:srgbClr val="B85042"/>
          </a:solidFill>
          <a:ln/>
        </p:spPr>
      </p:sp>
      <p:sp>
        <p:nvSpPr>
          <p:cNvPr id="14" name="Text 12"/>
          <p:cNvSpPr/>
          <p:nvPr/>
        </p:nvSpPr>
        <p:spPr>
          <a:xfrm>
            <a:off x="4457700" y="207568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3538728" y="2697480"/>
            <a:ext cx="2331720" cy="365760"/>
          </a:xfrm>
          <a:prstGeom prst="rect">
            <a:avLst/>
          </a:prstGeom>
          <a:noFill/>
          <a:ln/>
        </p:spPr>
        <p:txBody>
          <a:bodyPr wrap="square" lIns="0" tIns="0" rIns="0" bIns="0" rtlCol="0" anchor="ctr"/>
          <a:lstStyle/>
          <a:p>
            <a:pPr algn="ctr" indent="0" marL="0">
              <a:buNone/>
            </a:pPr>
            <a:r>
              <a:rPr lang="en-US" sz="1350" b="1" dirty="0">
                <a:solidFill>
                  <a:srgbClr val="1C3144"/>
                </a:solidFill>
                <a:latin typeface="Calibri" pitchFamily="34" charset="0"/>
                <a:ea typeface="Calibri" pitchFamily="34" charset="-122"/>
                <a:cs typeface="Calibri" pitchFamily="34" charset="-120"/>
              </a:rPr>
              <a:t>Reliable Negatives</a:t>
            </a:r>
            <a:endParaRPr lang="en-US" sz="1350" dirty="0"/>
          </a:p>
        </p:txBody>
      </p:sp>
      <p:sp>
        <p:nvSpPr>
          <p:cNvPr id="16" name="Text 14"/>
          <p:cNvSpPr/>
          <p:nvPr/>
        </p:nvSpPr>
        <p:spPr>
          <a:xfrm>
            <a:off x="3538728" y="3063240"/>
            <a:ext cx="2331720" cy="64008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Zeros scoring below that threshold become trustworthy “not a cafe” examples</a:t>
            </a:r>
            <a:endParaRPr lang="en-US" sz="1050" dirty="0"/>
          </a:p>
        </p:txBody>
      </p:sp>
      <p:sp>
        <p:nvSpPr>
          <p:cNvPr id="17" name="Text 15"/>
          <p:cNvSpPr/>
          <p:nvPr/>
        </p:nvSpPr>
        <p:spPr>
          <a:xfrm>
            <a:off x="6012180" y="2583180"/>
            <a:ext cx="237744" cy="457200"/>
          </a:xfrm>
          <a:prstGeom prst="rect">
            <a:avLst/>
          </a:prstGeom>
          <a:noFill/>
          <a:ln/>
        </p:spPr>
        <p:txBody>
          <a:bodyPr wrap="square" lIns="0" tIns="0" rIns="0" bIns="0" rtlCol="0" anchor="ctr"/>
          <a:lstStyle/>
          <a:p>
            <a:pPr algn="ctr" indent="0" marL="0">
              <a:buNone/>
            </a:pPr>
            <a:r>
              <a:rPr lang="en-US" sz="2000" b="1" dirty="0">
                <a:solidFill>
                  <a:srgbClr val="B85042"/>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6254496" y="1874520"/>
            <a:ext cx="2606040" cy="1874520"/>
          </a:xfrm>
          <a:prstGeom prst="roundRect">
            <a:avLst>
              <a:gd name="adj" fmla="val 3902"/>
            </a:avLst>
          </a:prstGeom>
          <a:solidFill>
            <a:srgbClr val="F7F3F0"/>
          </a:solidFill>
          <a:ln/>
          <a:effectLst>
            <a:outerShdw sx="100000" sy="100000" kx="0" ky="0" algn="bl" rotWithShape="0" blurRad="101600" dist="38100" dir="5400000">
              <a:srgbClr val="000000">
                <a:alpha val="12000"/>
              </a:srgbClr>
            </a:outerShdw>
          </a:effectLst>
        </p:spPr>
      </p:sp>
      <p:sp>
        <p:nvSpPr>
          <p:cNvPr id="19" name="Shape 17"/>
          <p:cNvSpPr/>
          <p:nvPr/>
        </p:nvSpPr>
        <p:spPr>
          <a:xfrm>
            <a:off x="7310628" y="2075688"/>
            <a:ext cx="493776" cy="493776"/>
          </a:xfrm>
          <a:prstGeom prst="hexagon">
            <a:avLst/>
          </a:prstGeom>
          <a:solidFill>
            <a:srgbClr val="B85042"/>
          </a:solidFill>
          <a:ln/>
        </p:spPr>
      </p:sp>
      <p:sp>
        <p:nvSpPr>
          <p:cNvPr id="20" name="Text 18"/>
          <p:cNvSpPr/>
          <p:nvPr/>
        </p:nvSpPr>
        <p:spPr>
          <a:xfrm>
            <a:off x="7310628" y="207568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6391656" y="2697480"/>
            <a:ext cx="2331720" cy="365760"/>
          </a:xfrm>
          <a:prstGeom prst="rect">
            <a:avLst/>
          </a:prstGeom>
          <a:noFill/>
          <a:ln/>
        </p:spPr>
        <p:txBody>
          <a:bodyPr wrap="square" lIns="0" tIns="0" rIns="0" bIns="0" rtlCol="0" anchor="ctr"/>
          <a:lstStyle/>
          <a:p>
            <a:pPr algn="ctr" indent="0" marL="0">
              <a:buNone/>
            </a:pPr>
            <a:r>
              <a:rPr lang="en-US" sz="1350" b="1" dirty="0">
                <a:solidFill>
                  <a:srgbClr val="1C3144"/>
                </a:solidFill>
                <a:latin typeface="Calibri" pitchFamily="34" charset="0"/>
                <a:ea typeface="Calibri" pitchFamily="34" charset="-122"/>
                <a:cs typeface="Calibri" pitchFamily="34" charset="-120"/>
              </a:rPr>
              <a:t>100-Bag Ensemble</a:t>
            </a:r>
            <a:endParaRPr lang="en-US" sz="1350" dirty="0"/>
          </a:p>
        </p:txBody>
      </p:sp>
      <p:sp>
        <p:nvSpPr>
          <p:cNvPr id="22" name="Text 20"/>
          <p:cNvSpPr/>
          <p:nvPr/>
        </p:nvSpPr>
        <p:spPr>
          <a:xfrm>
            <a:off x="6391656" y="3063240"/>
            <a:ext cx="2331720" cy="64008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Train 100 XGBoost models on resampled negatives; average their probabilities</a:t>
            </a:r>
            <a:endParaRPr lang="en-US" sz="1050" dirty="0"/>
          </a:p>
        </p:txBody>
      </p:sp>
      <p:sp>
        <p:nvSpPr>
          <p:cNvPr id="23" name="Text 21"/>
          <p:cNvSpPr/>
          <p:nvPr/>
        </p:nvSpPr>
        <p:spPr>
          <a:xfrm>
            <a:off x="8865108" y="2583180"/>
            <a:ext cx="237744" cy="457200"/>
          </a:xfrm>
          <a:prstGeom prst="rect">
            <a:avLst/>
          </a:prstGeom>
          <a:noFill/>
          <a:ln/>
        </p:spPr>
        <p:txBody>
          <a:bodyPr wrap="square" lIns="0" tIns="0" rIns="0" bIns="0" rtlCol="0" anchor="ctr"/>
          <a:lstStyle/>
          <a:p>
            <a:pPr algn="ctr" indent="0" marL="0">
              <a:buNone/>
            </a:pPr>
            <a:r>
              <a:rPr lang="en-US" sz="2000" b="1" dirty="0">
                <a:solidFill>
                  <a:srgbClr val="B85042"/>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9107424" y="1874520"/>
            <a:ext cx="2606040" cy="1874520"/>
          </a:xfrm>
          <a:prstGeom prst="roundRect">
            <a:avLst>
              <a:gd name="adj" fmla="val 3902"/>
            </a:avLst>
          </a:prstGeom>
          <a:solidFill>
            <a:srgbClr val="1C3144"/>
          </a:solidFill>
          <a:ln/>
          <a:effectLst>
            <a:outerShdw sx="100000" sy="100000" kx="0" ky="0" algn="bl" rotWithShape="0" blurRad="101600" dist="38100" dir="5400000">
              <a:srgbClr val="000000">
                <a:alpha val="12000"/>
              </a:srgbClr>
            </a:outerShdw>
          </a:effectLst>
        </p:spPr>
      </p:sp>
      <p:sp>
        <p:nvSpPr>
          <p:cNvPr id="25" name="Shape 23"/>
          <p:cNvSpPr/>
          <p:nvPr/>
        </p:nvSpPr>
        <p:spPr>
          <a:xfrm>
            <a:off x="10163556" y="2075688"/>
            <a:ext cx="493776" cy="493776"/>
          </a:xfrm>
          <a:prstGeom prst="hexagon">
            <a:avLst/>
          </a:prstGeom>
          <a:solidFill>
            <a:srgbClr val="D9A566"/>
          </a:solidFill>
          <a:ln/>
        </p:spPr>
      </p:sp>
      <p:sp>
        <p:nvSpPr>
          <p:cNvPr id="26" name="Text 24"/>
          <p:cNvSpPr/>
          <p:nvPr/>
        </p:nvSpPr>
        <p:spPr>
          <a:xfrm>
            <a:off x="10163556" y="2075688"/>
            <a:ext cx="493776" cy="493776"/>
          </a:xfrm>
          <a:prstGeom prst="rect">
            <a:avLst/>
          </a:prstGeom>
          <a:noFill/>
          <a:ln/>
        </p:spPr>
        <p:txBody>
          <a:bodyPr wrap="square" lIns="0" tIns="0" rIns="0" bIns="0" rtlCol="0" anchor="ctr"/>
          <a:lstStyle/>
          <a:p>
            <a:pPr algn="ctr" indent="0" marL="0">
              <a:buNone/>
            </a:pPr>
            <a:r>
              <a:rPr lang="en-US" sz="1400" b="1" dirty="0">
                <a:solidFill>
                  <a:srgbClr val="1C3144"/>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9244584" y="2697480"/>
            <a:ext cx="233172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GIS Veto + Dispatch Sort</a:t>
            </a:r>
            <a:endParaRPr lang="en-US" sz="1350" dirty="0"/>
          </a:p>
        </p:txBody>
      </p:sp>
      <p:sp>
        <p:nvSpPr>
          <p:cNvPr id="28" name="Text 26"/>
          <p:cNvSpPr/>
          <p:nvPr/>
        </p:nvSpPr>
        <p:spPr>
          <a:xfrm>
            <a:off x="9244584" y="3063240"/>
            <a:ext cx="2331720" cy="640080"/>
          </a:xfrm>
          <a:prstGeom prst="rect">
            <a:avLst/>
          </a:prstGeom>
          <a:noFill/>
          <a:ln/>
        </p:spPr>
        <p:txBody>
          <a:bodyPr wrap="square" lIns="0" tIns="0" rIns="0" bIns="0" rtlCol="0" anchor="ctr"/>
          <a:lstStyle/>
          <a:p>
            <a:pPr algn="ctr" indent="0" marL="0">
              <a:buNone/>
            </a:pPr>
            <a:r>
              <a:rPr lang="en-US" sz="1050" dirty="0">
                <a:solidFill>
                  <a:srgbClr val="DCE3E8"/>
                </a:solidFill>
                <a:latin typeface="Calibri" pitchFamily="34" charset="0"/>
                <a:ea typeface="Calibri" pitchFamily="34" charset="-122"/>
                <a:cs typeface="Calibri" pitchFamily="34" charset="-120"/>
              </a:rPr>
              <a:t>Drop hexes overlapping graveyards/water by &gt;10%; rank survivors for hand-off</a:t>
            </a:r>
            <a:endParaRPr lang="en-US" sz="1050" dirty="0"/>
          </a:p>
        </p:txBody>
      </p:sp>
      <p:sp>
        <p:nvSpPr>
          <p:cNvPr id="29" name="Text 27"/>
          <p:cNvSpPr/>
          <p:nvPr/>
        </p:nvSpPr>
        <p:spPr>
          <a:xfrm>
            <a:off x="548640" y="4160520"/>
            <a:ext cx="5486400" cy="320040"/>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Why PU learning, specifically</a:t>
            </a:r>
            <a:endParaRPr lang="en-US" sz="1400" dirty="0"/>
          </a:p>
        </p:txBody>
      </p:sp>
      <p:sp>
        <p:nvSpPr>
          <p:cNvPr id="30" name="Text 28"/>
          <p:cNvSpPr/>
          <p:nvPr/>
        </p:nvSpPr>
        <p:spPr>
          <a:xfrm>
            <a:off x="548640" y="4526280"/>
            <a:ext cx="6492240" cy="1554480"/>
          </a:xfrm>
          <a:prstGeom prst="rect">
            <a:avLst/>
          </a:prstGeom>
          <a:noFill/>
          <a:ln/>
        </p:spPr>
        <p:txBody>
          <a:bodyPr wrap="square" rtlCol="0" anchor="t"/>
          <a:lstStyle/>
          <a:p>
            <a:pPr marL="228600" indent="-228600">
              <a:lnSpc>
                <a:spcPct val="112000"/>
              </a:lnSpc>
              <a:spcAft>
                <a:spcPts val="1400"/>
              </a:spcAft>
              <a:buSzPct val="100000"/>
              <a:buChar char="●"/>
            </a:pPr>
            <a:r>
              <a:rPr lang="en-US" sz="1350" dirty="0">
                <a:solidFill>
                  <a:srgbClr val="1C3144"/>
                </a:solidFill>
                <a:latin typeface="Calibri" pitchFamily="34" charset="0"/>
                <a:ea typeface="Calibri" pitchFamily="34" charset="-122"/>
                <a:cs typeface="Calibri" pitchFamily="34" charset="-120"/>
              </a:rPr>
              <a:t>Our 0-labels are unknowns, not confirmed failures — a standard classifier would wrongly punish the model for finding a hidden hotspot</a:t>
            </a:r>
            <a:endParaRPr lang="en-US" sz="1350" dirty="0"/>
          </a:p>
          <a:p>
            <a:pPr marL="228600" indent="-228600">
              <a:lnSpc>
                <a:spcPct val="112000"/>
              </a:lnSpc>
              <a:spcAft>
                <a:spcPts val="1400"/>
              </a:spcAft>
              <a:buSzPct val="100000"/>
              <a:buChar char="●"/>
            </a:pPr>
            <a:r>
              <a:rPr lang="en-US" sz="1350" dirty="0">
                <a:solidFill>
                  <a:srgbClr val="1C3144"/>
                </a:solidFill>
                <a:latin typeface="Calibri" pitchFamily="34" charset="0"/>
                <a:ea typeface="Calibri" pitchFamily="34" charset="-122"/>
                <a:cs typeface="Calibri" pitchFamily="34" charset="-120"/>
              </a:rPr>
              <a:t>Spy + Bagging (Elkan &amp; Noto, 2008) is the standard fix: it estimates which zeros are trustworthy before training on them</a:t>
            </a:r>
            <a:endParaRPr lang="en-US" sz="1350" dirty="0"/>
          </a:p>
        </p:txBody>
      </p:sp>
      <p:sp>
        <p:nvSpPr>
          <p:cNvPr id="31" name="Shape 29"/>
          <p:cNvSpPr/>
          <p:nvPr/>
        </p:nvSpPr>
        <p:spPr>
          <a:xfrm>
            <a:off x="7269480" y="4160520"/>
            <a:ext cx="4370832" cy="1965960"/>
          </a:xfrm>
          <a:prstGeom prst="roundRect">
            <a:avLst>
              <a:gd name="adj" fmla="val 3721"/>
            </a:avLst>
          </a:prstGeom>
          <a:solidFill>
            <a:srgbClr val="F7F3F0"/>
          </a:solidFill>
          <a:ln/>
          <a:effectLst>
            <a:outerShdw sx="100000" sy="100000" kx="0" ky="0" algn="bl" rotWithShape="0" blurRad="101600" dist="38100" dir="5400000">
              <a:srgbClr val="000000">
                <a:alpha val="12000"/>
              </a:srgbClr>
            </a:outerShdw>
          </a:effectLst>
        </p:spPr>
      </p:sp>
      <p:sp>
        <p:nvSpPr>
          <p:cNvPr id="32" name="Text 30"/>
          <p:cNvSpPr/>
          <p:nvPr/>
        </p:nvSpPr>
        <p:spPr>
          <a:xfrm>
            <a:off x="7543800" y="4315968"/>
            <a:ext cx="3840480" cy="320040"/>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Tuning notes</a:t>
            </a:r>
            <a:endParaRPr lang="en-US" sz="1300" dirty="0"/>
          </a:p>
        </p:txBody>
      </p:sp>
      <p:sp>
        <p:nvSpPr>
          <p:cNvPr id="33" name="Text 31"/>
          <p:cNvSpPr/>
          <p:nvPr/>
        </p:nvSpPr>
        <p:spPr>
          <a:xfrm>
            <a:off x="7543800" y="4663440"/>
            <a:ext cx="3840480" cy="1371600"/>
          </a:xfrm>
          <a:prstGeom prst="rect">
            <a:avLst/>
          </a:prstGeom>
          <a:noFill/>
          <a:ln/>
        </p:spPr>
        <p:txBody>
          <a:bodyPr wrap="square" lIns="0" tIns="0" rIns="0" bIns="0" rtlCol="0" anchor="ctr"/>
          <a:lstStyle/>
          <a:p>
            <a:pPr indent="0" marL="0">
              <a:lnSpc>
                <a:spcPct val="130000"/>
              </a:lnSpc>
              <a:buNone/>
            </a:pPr>
            <a:r>
              <a:rPr lang="en-US" sz="1200" dirty="0">
                <a:solidFill>
                  <a:srgbClr val="5B6B73"/>
                </a:solidFill>
                <a:latin typeface="Calibri" pitchFamily="34" charset="0"/>
                <a:ea typeface="Calibri" pitchFamily="34" charset="-122"/>
                <a:cs typeface="Calibri" pitchFamily="34" charset="-120"/>
              </a:rPr>
              <a:t>scale_pos_weight set from the class ratio · max_depth 4–6 · subsample 0.8 · evaluated with 5-fold CV using PR-AUC, not ROC-AUC</a:t>
            </a:r>
            <a:endParaRPr lang="en-US" sz="1200" dirty="0"/>
          </a:p>
        </p:txBody>
      </p:sp>
      <p:sp>
        <p:nvSpPr>
          <p:cNvPr id="34" name="Text 3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GeoSpatial AI Site Selection  |  Lahore Luxury Cafes</a:t>
            </a:r>
            <a:endParaRPr lang="en-US" sz="900" dirty="0"/>
          </a:p>
        </p:txBody>
      </p:sp>
      <p:sp>
        <p:nvSpPr>
          <p:cNvPr id="35" name="Text 33"/>
          <p:cNvSpPr/>
          <p:nvPr/>
        </p:nvSpPr>
        <p:spPr>
          <a:xfrm>
            <a:off x="11365992" y="6473952"/>
            <a:ext cx="36576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hexagon">
            <a:avLst/>
          </a:prstGeom>
          <a:solidFill>
            <a:srgbClr val="B85042"/>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p:nvPr/>
        </p:nvSpPr>
        <p:spPr>
          <a:xfrm>
            <a:off x="1234440" y="411480"/>
            <a:ext cx="10332720" cy="640080"/>
          </a:xfrm>
          <a:prstGeom prst="rect">
            <a:avLst/>
          </a:prstGeom>
          <a:noFill/>
          <a:ln/>
        </p:spPr>
        <p:txBody>
          <a:bodyPr wrap="square" lIns="0" tIns="0" rIns="0" bIns="0" rtlCol="0" anchor="ctr"/>
          <a:lstStyle/>
          <a:p>
            <a:pPr indent="0" marL="0">
              <a:buNone/>
            </a:pPr>
            <a:r>
              <a:rPr lang="en-US" sz="3000" b="1" dirty="0">
                <a:solidFill>
                  <a:srgbClr val="1C3144"/>
                </a:solidFill>
                <a:latin typeface="Cambria" pitchFamily="34" charset="0"/>
                <a:ea typeface="Cambria" pitchFamily="34" charset="-122"/>
                <a:cs typeface="Cambria" pitchFamily="34" charset="-120"/>
              </a:rPr>
              <a:t>Results: Top 50 Recommended Sites</a:t>
            </a:r>
            <a:endParaRPr lang="en-US" sz="3000" dirty="0"/>
          </a:p>
        </p:txBody>
      </p:sp>
      <p:graphicFrame>
        <p:nvGraphicFramePr>
          <p:cNvPr id="5" name="Chart 0" descr=""/>
          <p:cNvGraphicFramePr/>
          <p:nvPr/>
        </p:nvGraphicFramePr>
        <p:xfrm>
          <a:off x="548640" y="1280160"/>
          <a:ext cx="5120640" cy="28346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48640" y="4160520"/>
            <a:ext cx="5120640" cy="365760"/>
          </a:xfrm>
          <a:prstGeom prst="rect">
            <a:avLst/>
          </a:prstGeom>
          <a:noFill/>
          <a:ln/>
        </p:spPr>
        <p:txBody>
          <a:bodyPr wrap="square" lIns="0" tIns="0" rIns="0" bIns="0" rtlCol="0" anchor="ctr"/>
          <a:lstStyle/>
          <a:p>
            <a:pPr indent="0" marL="0">
              <a:buNone/>
            </a:pPr>
            <a:r>
              <a:rPr lang="en-US" sz="1150" i="1" dirty="0">
                <a:solidFill>
                  <a:srgbClr val="5B6B73"/>
                </a:solidFill>
                <a:latin typeface="Calibri" pitchFamily="34" charset="0"/>
                <a:ea typeface="Calibri" pitchFamily="34" charset="-122"/>
                <a:cs typeface="Calibri" pitchFamily="34" charset="-120"/>
              </a:rPr>
              <a:t>Lower XGBoost PR-AUC is expected, not a bug — see note →</a:t>
            </a:r>
            <a:endParaRPr lang="en-US" sz="1150" dirty="0"/>
          </a:p>
        </p:txBody>
      </p:sp>
      <p:sp>
        <p:nvSpPr>
          <p:cNvPr id="7" name="Shape 4"/>
          <p:cNvSpPr/>
          <p:nvPr/>
        </p:nvSpPr>
        <p:spPr>
          <a:xfrm>
            <a:off x="5989320" y="1280160"/>
            <a:ext cx="5650992" cy="3611880"/>
          </a:xfrm>
          <a:prstGeom prst="roundRect">
            <a:avLst>
              <a:gd name="adj" fmla="val 2025"/>
            </a:avLst>
          </a:prstGeom>
          <a:solidFill>
            <a:srgbClr val="1C3144"/>
          </a:solidFill>
          <a:ln/>
          <a:effectLst>
            <a:outerShdw sx="100000" sy="100000" kx="0" ky="0" algn="bl" rotWithShape="0" blurRad="101600" dist="38100" dir="5400000">
              <a:srgbClr val="000000">
                <a:alpha val="12000"/>
              </a:srgbClr>
            </a:outerShdw>
          </a:effectLst>
        </p:spPr>
      </p:sp>
      <p:sp>
        <p:nvSpPr>
          <p:cNvPr id="8" name="Text 5"/>
          <p:cNvSpPr/>
          <p:nvPr/>
        </p:nvSpPr>
        <p:spPr>
          <a:xfrm>
            <a:off x="6263640" y="1444752"/>
            <a:ext cx="5120640" cy="365760"/>
          </a:xfrm>
          <a:prstGeom prst="rect">
            <a:avLst/>
          </a:prstGeom>
          <a:noFill/>
          <a:ln/>
        </p:spPr>
        <p:txBody>
          <a:bodyPr wrap="square" lIns="0" tIns="0" rIns="0" bIns="0" rtlCol="0" anchor="ctr"/>
          <a:lstStyle/>
          <a:p>
            <a:pPr indent="0" marL="0">
              <a:buNone/>
            </a:pPr>
            <a:r>
              <a:rPr lang="en-US" sz="1450" b="1" dirty="0">
                <a:solidFill>
                  <a:srgbClr val="D9A566"/>
                </a:solidFill>
                <a:latin typeface="Calibri" pitchFamily="34" charset="0"/>
                <a:ea typeface="Calibri" pitchFamily="34" charset="-122"/>
                <a:cs typeface="Calibri" pitchFamily="34" charset="-120"/>
              </a:rPr>
              <a:t>The PU Evaluation Paradox</a:t>
            </a:r>
            <a:endParaRPr lang="en-US" sz="1450" dirty="0"/>
          </a:p>
        </p:txBody>
      </p:sp>
      <p:sp>
        <p:nvSpPr>
          <p:cNvPr id="9" name="Text 6"/>
          <p:cNvSpPr/>
          <p:nvPr/>
        </p:nvSpPr>
        <p:spPr>
          <a:xfrm>
            <a:off x="6263640" y="1874520"/>
            <a:ext cx="5120640" cy="1508760"/>
          </a:xfrm>
          <a:prstGeom prst="rect">
            <a:avLst/>
          </a:prstGeom>
          <a:noFill/>
          <a:ln/>
        </p:spPr>
        <p:txBody>
          <a:bodyPr wrap="square" lIns="0" tIns="0" rIns="0" bIns="0" rtlCol="0" anchor="ctr"/>
          <a:lstStyle/>
          <a:p>
            <a:pPr indent="0" marL="0">
              <a:lnSpc>
                <a:spcPct val="125000"/>
              </a:lnSpc>
              <a:buNone/>
            </a:pPr>
            <a:r>
              <a:rPr lang="en-US" sz="1200" dirty="0">
                <a:solidFill>
                  <a:srgbClr val="DCE3E8"/>
                </a:solidFill>
                <a:latin typeface="Calibri" pitchFamily="34" charset="0"/>
                <a:ea typeface="Calibri" pitchFamily="34" charset="-122"/>
                <a:cs typeface="Calibri" pitchFamily="34" charset="-120"/>
              </a:rPr>
              <a:t>PR-AUC treats every 0-label as a true negative. When XGBoost confidently scores a hidden, unlabeled hotspot, the metric punishes it as a “false positive” — even though that's the entire point of the model. This is a documented limitation of PU evaluation (Elkan &amp; Noto, 2008), not a modeling failure.</a:t>
            </a:r>
            <a:endParaRPr lang="en-US" sz="1200" dirty="0"/>
          </a:p>
        </p:txBody>
      </p:sp>
      <p:sp>
        <p:nvSpPr>
          <p:cNvPr id="10" name="Text 7"/>
          <p:cNvSpPr/>
          <p:nvPr/>
        </p:nvSpPr>
        <p:spPr>
          <a:xfrm>
            <a:off x="6263640" y="3429000"/>
            <a:ext cx="51206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We validate qualitatively instead:</a:t>
            </a:r>
            <a:endParaRPr lang="en-US" sz="1200" dirty="0"/>
          </a:p>
        </p:txBody>
      </p:sp>
      <p:sp>
        <p:nvSpPr>
          <p:cNvPr id="11" name="Text 8"/>
          <p:cNvSpPr/>
          <p:nvPr/>
        </p:nvSpPr>
        <p:spPr>
          <a:xfrm>
            <a:off x="6263640" y="3730752"/>
            <a:ext cx="5120640" cy="1051560"/>
          </a:xfrm>
          <a:prstGeom prst="rect">
            <a:avLst/>
          </a:prstGeom>
          <a:noFill/>
          <a:ln/>
        </p:spPr>
        <p:txBody>
          <a:bodyPr wrap="square" lIns="0" tIns="0" rIns="0" bIns="0" rtlCol="0" anchor="ctr"/>
          <a:lstStyle/>
          <a:p>
            <a:pPr indent="0" marL="0">
              <a:lnSpc>
                <a:spcPct val="125000"/>
              </a:lnSpc>
              <a:buNone/>
            </a:pPr>
            <a:r>
              <a:rPr lang="en-US" sz="1200" dirty="0">
                <a:solidFill>
                  <a:srgbClr val="DCE3E8"/>
                </a:solidFill>
                <a:latin typeface="Calibri" pitchFamily="34" charset="0"/>
                <a:ea typeface="Calibri" pitchFamily="34" charset="-122"/>
                <a:cs typeface="Calibri" pitchFamily="34" charset="-120"/>
              </a:rPr>
              <a:t>the GIS spatial mask correctly vetoed a top-ranked hex overlapping Pir Makki Graveyard — proof the system reasons about real-world constraints, not just numbers.</a:t>
            </a:r>
            <a:endParaRPr lang="en-US" sz="1200" dirty="0"/>
          </a:p>
        </p:txBody>
      </p:sp>
      <p:sp>
        <p:nvSpPr>
          <p:cNvPr id="12" name="Text 9"/>
          <p:cNvSpPr/>
          <p:nvPr/>
        </p:nvSpPr>
        <p:spPr>
          <a:xfrm>
            <a:off x="548640" y="4663440"/>
            <a:ext cx="5486400" cy="320040"/>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Per-hex explainability (SHAP)</a:t>
            </a:r>
            <a:endParaRPr lang="en-US" sz="1400" dirty="0"/>
          </a:p>
        </p:txBody>
      </p:sp>
      <p:sp>
        <p:nvSpPr>
          <p:cNvPr id="13" name="Text 10"/>
          <p:cNvSpPr/>
          <p:nvPr/>
        </p:nvSpPr>
        <p:spPr>
          <a:xfrm>
            <a:off x="548640" y="5029200"/>
            <a:ext cx="5486400" cy="1097280"/>
          </a:xfrm>
          <a:prstGeom prst="rect">
            <a:avLst/>
          </a:prstGeom>
          <a:noFill/>
          <a:ln/>
        </p:spPr>
        <p:txBody>
          <a:bodyPr wrap="square" rtlCol="0" anchor="t"/>
          <a:lstStyle/>
          <a:p>
            <a:pPr marL="228600" indent="-228600">
              <a:lnSpc>
                <a:spcPct val="112000"/>
              </a:lnSpc>
              <a:spcAft>
                <a:spcPts val="1400"/>
              </a:spcAft>
              <a:buSzPct val="100000"/>
              <a:buChar char="●"/>
            </a:pPr>
            <a:r>
              <a:rPr lang="en-US" sz="1300" dirty="0">
                <a:solidFill>
                  <a:srgbClr val="1C3144"/>
                </a:solidFill>
                <a:latin typeface="Calibri" pitchFamily="34" charset="0"/>
                <a:ea typeface="Calibri" pitchFamily="34" charset="-122"/>
                <a:cs typeface="Calibri" pitchFamily="34" charset="-120"/>
              </a:rPr>
              <a:t>Every Top 50 hex ships with a SHAP breakdown — the live map's popup shows exactly how much rent, luxury density, and population pushed that score up or down</a:t>
            </a:r>
            <a:endParaRPr lang="en-US" sz="1300" dirty="0"/>
          </a:p>
        </p:txBody>
      </p:sp>
      <p:sp>
        <p:nvSpPr>
          <p:cNvPr id="14" name="Text 1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GeoSpatial AI Site Selection  |  Lahore Luxury Cafes</a:t>
            </a:r>
            <a:endParaRPr lang="en-US" sz="900" dirty="0"/>
          </a:p>
        </p:txBody>
      </p:sp>
      <p:sp>
        <p:nvSpPr>
          <p:cNvPr id="15" name="Text 12"/>
          <p:cNvSpPr/>
          <p:nvPr/>
        </p:nvSpPr>
        <p:spPr>
          <a:xfrm>
            <a:off x="11365992" y="6473952"/>
            <a:ext cx="36576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22E"/>
        </a:solidFill>
      </p:bgPr>
    </p:bg>
    <p:spTree>
      <p:nvGrpSpPr>
        <p:cNvPr id="1" name=""/>
        <p:cNvGrpSpPr/>
        <p:nvPr/>
      </p:nvGrpSpPr>
      <p:grpSpPr>
        <a:xfrm>
          <a:off x="0" y="0"/>
          <a:ext cx="0" cy="0"/>
          <a:chOff x="0" y="0"/>
          <a:chExt cx="0" cy="0"/>
        </a:xfrm>
      </p:grpSpPr>
      <p:sp>
        <p:nvSpPr>
          <p:cNvPr id="2" name="Shape 0"/>
          <p:cNvSpPr/>
          <p:nvPr/>
        </p:nvSpPr>
        <p:spPr>
          <a:xfrm>
            <a:off x="11018520" y="5623560"/>
            <a:ext cx="502920" cy="502920"/>
          </a:xfrm>
          <a:prstGeom prst="hexagon">
            <a:avLst/>
          </a:prstGeom>
          <a:solidFill>
            <a:srgbClr val="D9A566">
              <a:alpha val="12000"/>
            </a:srgbClr>
          </a:solidFill>
          <a:ln/>
        </p:spPr>
      </p:sp>
      <p:sp>
        <p:nvSpPr>
          <p:cNvPr id="3" name="Shape 1"/>
          <p:cNvSpPr/>
          <p:nvPr/>
        </p:nvSpPr>
        <p:spPr>
          <a:xfrm>
            <a:off x="11475720" y="5257800"/>
            <a:ext cx="365760" cy="365760"/>
          </a:xfrm>
          <a:prstGeom prst="hexagon">
            <a:avLst/>
          </a:prstGeom>
          <a:solidFill>
            <a:srgbClr val="D9A566">
              <a:alpha val="12000"/>
            </a:srgbClr>
          </a:solidFill>
          <a:ln/>
        </p:spPr>
      </p:sp>
      <p:sp>
        <p:nvSpPr>
          <p:cNvPr id="4" name="Shape 2"/>
          <p:cNvSpPr/>
          <p:nvPr/>
        </p:nvSpPr>
        <p:spPr>
          <a:xfrm>
            <a:off x="10607040" y="5349240"/>
            <a:ext cx="347472" cy="347472"/>
          </a:xfrm>
          <a:prstGeom prst="hexagon">
            <a:avLst/>
          </a:prstGeom>
          <a:solidFill>
            <a:srgbClr val="D9A566">
              <a:alpha val="12000"/>
            </a:srgbClr>
          </a:solidFill>
          <a:ln/>
        </p:spPr>
      </p:sp>
      <p:sp>
        <p:nvSpPr>
          <p:cNvPr id="5" name="Shape 3"/>
          <p:cNvSpPr/>
          <p:nvPr/>
        </p:nvSpPr>
        <p:spPr>
          <a:xfrm>
            <a:off x="11430000" y="6080760"/>
            <a:ext cx="292608" cy="292608"/>
          </a:xfrm>
          <a:prstGeom prst="hexagon">
            <a:avLst/>
          </a:prstGeom>
          <a:solidFill>
            <a:srgbClr val="D9A566">
              <a:alpha val="12000"/>
            </a:srgbClr>
          </a:solidFill>
          <a:ln/>
        </p:spPr>
      </p:sp>
      <p:sp>
        <p:nvSpPr>
          <p:cNvPr id="6" name="Shape 4"/>
          <p:cNvSpPr/>
          <p:nvPr/>
        </p:nvSpPr>
        <p:spPr>
          <a:xfrm>
            <a:off x="10927080" y="6126480"/>
            <a:ext cx="256032" cy="256032"/>
          </a:xfrm>
          <a:prstGeom prst="hexagon">
            <a:avLst/>
          </a:prstGeom>
          <a:solidFill>
            <a:srgbClr val="D9A566">
              <a:alpha val="12000"/>
            </a:srgbClr>
          </a:solidFill>
          <a:ln/>
        </p:spPr>
      </p:sp>
      <p:sp>
        <p:nvSpPr>
          <p:cNvPr id="7" name="Shape 5"/>
          <p:cNvSpPr/>
          <p:nvPr/>
        </p:nvSpPr>
        <p:spPr>
          <a:xfrm>
            <a:off x="548640" y="457200"/>
            <a:ext cx="502920" cy="502920"/>
          </a:xfrm>
          <a:prstGeom prst="hexagon">
            <a:avLst/>
          </a:prstGeom>
          <a:solidFill>
            <a:srgbClr val="B85042"/>
          </a:solidFill>
          <a:ln/>
        </p:spPr>
      </p:sp>
      <p:sp>
        <p:nvSpPr>
          <p:cNvPr id="8" name="Text 6"/>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9" name="Text 7"/>
          <p:cNvSpPr/>
          <p:nvPr/>
        </p:nvSpPr>
        <p:spPr>
          <a:xfrm>
            <a:off x="1234440" y="411480"/>
            <a:ext cx="103327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Live Demo + What's Next</a:t>
            </a:r>
            <a:endParaRPr lang="en-US" sz="3000" dirty="0"/>
          </a:p>
        </p:txBody>
      </p:sp>
      <p:sp>
        <p:nvSpPr>
          <p:cNvPr id="10" name="Shape 8"/>
          <p:cNvSpPr/>
          <p:nvPr/>
        </p:nvSpPr>
        <p:spPr>
          <a:xfrm>
            <a:off x="548640" y="1325880"/>
            <a:ext cx="11091672" cy="1463040"/>
          </a:xfrm>
          <a:prstGeom prst="roundRect">
            <a:avLst>
              <a:gd name="adj" fmla="val 5000"/>
            </a:avLst>
          </a:prstGeom>
          <a:solidFill>
            <a:srgbClr val="24384A"/>
          </a:solidFill>
          <a:ln/>
          <a:effectLst>
            <a:outerShdw sx="100000" sy="100000" kx="0" ky="0" algn="bl" rotWithShape="0" blurRad="101600" dist="38100" dir="5400000">
              <a:srgbClr val="000000">
                <a:alpha val="12000"/>
              </a:srgbClr>
            </a:outerShdw>
          </a:effectLst>
        </p:spPr>
      </p:sp>
      <p:sp>
        <p:nvSpPr>
          <p:cNvPr id="11" name="Text 9"/>
          <p:cNvSpPr/>
          <p:nvPr/>
        </p:nvSpPr>
        <p:spPr>
          <a:xfrm>
            <a:off x="822960" y="1463040"/>
            <a:ext cx="10515600" cy="320040"/>
          </a:xfrm>
          <a:prstGeom prst="rect">
            <a:avLst/>
          </a:prstGeom>
          <a:noFill/>
          <a:ln/>
        </p:spPr>
        <p:txBody>
          <a:bodyPr wrap="square" lIns="0" tIns="0" rIns="0" bIns="0" rtlCol="0" anchor="ctr"/>
          <a:lstStyle/>
          <a:p>
            <a:pPr indent="0" marL="0">
              <a:buNone/>
            </a:pPr>
            <a:r>
              <a:rPr lang="en-US" sz="1400" b="1" dirty="0">
                <a:solidFill>
                  <a:srgbClr val="D9A566"/>
                </a:solidFill>
                <a:latin typeface="Calibri" pitchFamily="34" charset="0"/>
                <a:ea typeface="Calibri" pitchFamily="34" charset="-122"/>
                <a:cs typeface="Calibri" pitchFamily="34" charset="-120"/>
              </a:rPr>
              <a:t>Now switching to lahore_site_map.html</a:t>
            </a:r>
            <a:endParaRPr lang="en-US" sz="1400" dirty="0"/>
          </a:p>
        </p:txBody>
      </p:sp>
      <p:sp>
        <p:nvSpPr>
          <p:cNvPr id="12" name="Text 10"/>
          <p:cNvSpPr/>
          <p:nvPr/>
        </p:nvSpPr>
        <p:spPr>
          <a:xfrm>
            <a:off x="822960" y="1828800"/>
            <a:ext cx="10515600" cy="822960"/>
          </a:xfrm>
          <a:prstGeom prst="rect">
            <a:avLst/>
          </a:prstGeom>
          <a:noFill/>
          <a:ln/>
        </p:spPr>
        <p:txBody>
          <a:bodyPr wrap="square" lIns="0" tIns="0" rIns="0" bIns="0" rtlCol="0" anchor="ctr"/>
          <a:lstStyle/>
          <a:p>
            <a:pPr indent="0" marL="0">
              <a:lnSpc>
                <a:spcPct val="130000"/>
              </a:lnSpc>
              <a:buNone/>
            </a:pPr>
            <a:r>
              <a:rPr lang="en-US" sz="1350" dirty="0">
                <a:solidFill>
                  <a:srgbClr val="DCE3E8"/>
                </a:solidFill>
                <a:latin typeface="Calibri" pitchFamily="34" charset="0"/>
                <a:ea typeface="Calibri" pitchFamily="34" charset="-122"/>
                <a:cs typeface="Calibri" pitchFamily="34" charset="-120"/>
              </a:rPr>
              <a:t>Click a Top 50 hex → see its probability score and SHAP driver table  ·  Click a known-cafe marker → compare against real ground truth</a:t>
            </a:r>
            <a:endParaRPr lang="en-US" sz="1350" dirty="0"/>
          </a:p>
        </p:txBody>
      </p:sp>
      <p:sp>
        <p:nvSpPr>
          <p:cNvPr id="13" name="Text 11"/>
          <p:cNvSpPr/>
          <p:nvPr/>
        </p:nvSpPr>
        <p:spPr>
          <a:xfrm>
            <a:off x="548640" y="3108960"/>
            <a:ext cx="5120640" cy="365760"/>
          </a:xfrm>
          <a:prstGeom prst="rect">
            <a:avLst/>
          </a:prstGeom>
          <a:noFill/>
          <a:ln/>
        </p:spPr>
        <p:txBody>
          <a:bodyPr wrap="square" lIns="0" tIns="0" rIns="0" bIns="0" rtlCol="0" anchor="ctr"/>
          <a:lstStyle/>
          <a:p>
            <a:pPr indent="0" marL="0">
              <a:buNone/>
            </a:pPr>
            <a:r>
              <a:rPr lang="en-US" sz="1500" b="1" dirty="0">
                <a:solidFill>
                  <a:srgbClr val="D9A566"/>
                </a:solidFill>
                <a:latin typeface="Calibri" pitchFamily="34" charset="0"/>
                <a:ea typeface="Calibri" pitchFamily="34" charset="-122"/>
                <a:cs typeface="Calibri" pitchFamily="34" charset="-120"/>
              </a:rPr>
              <a:t>Future Work</a:t>
            </a:r>
            <a:endParaRPr lang="en-US" sz="1500" dirty="0"/>
          </a:p>
        </p:txBody>
      </p:sp>
      <p:sp>
        <p:nvSpPr>
          <p:cNvPr id="14" name="Text 12"/>
          <p:cNvSpPr/>
          <p:nvPr/>
        </p:nvSpPr>
        <p:spPr>
          <a:xfrm>
            <a:off x="548640" y="3520440"/>
            <a:ext cx="5486400" cy="2377440"/>
          </a:xfrm>
          <a:prstGeom prst="rect">
            <a:avLst/>
          </a:prstGeom>
          <a:noFill/>
          <a:ln/>
        </p:spPr>
        <p:txBody>
          <a:bodyPr wrap="square" rtlCol="0" anchor="t"/>
          <a:lstStyle/>
          <a:p>
            <a:pPr marL="228600" indent="-228600">
              <a:lnSpc>
                <a:spcPct val="112000"/>
              </a:lnSpc>
              <a:spcAft>
                <a:spcPts val="1400"/>
              </a:spcAft>
              <a:buSzPct val="100000"/>
              <a:buChar char="●"/>
            </a:pPr>
            <a:r>
              <a:rPr lang="en-US" sz="1350" dirty="0">
                <a:solidFill>
                  <a:srgbClr val="DCE3E8"/>
                </a:solidFill>
                <a:latin typeface="Calibri" pitchFamily="34" charset="0"/>
                <a:ea typeface="Calibri" pitchFamily="34" charset="-122"/>
                <a:cs typeface="Calibri" pitchFamily="34" charset="-120"/>
              </a:rPr>
              <a:t>Temporal foot-traffic signals (time-of-day, weekday vs. weekend) — today's model is a static snapshot</a:t>
            </a:r>
            <a:endParaRPr lang="en-US" sz="1350" dirty="0"/>
          </a:p>
          <a:p>
            <a:pPr marL="228600" indent="-228600">
              <a:lnSpc>
                <a:spcPct val="112000"/>
              </a:lnSpc>
              <a:spcAft>
                <a:spcPts val="1400"/>
              </a:spcAft>
              <a:buSzPct val="100000"/>
              <a:buChar char="●"/>
            </a:pPr>
            <a:r>
              <a:rPr lang="en-US" sz="1350" dirty="0">
                <a:solidFill>
                  <a:srgbClr val="DCE3E8"/>
                </a:solidFill>
                <a:latin typeface="Calibri" pitchFamily="34" charset="0"/>
                <a:ea typeface="Calibri" pitchFamily="34" charset="-122"/>
                <a:cs typeface="Calibri" pitchFamily="34" charset="-120"/>
              </a:rPr>
              <a:t>Spatial cannibalization modeling, so the engine stops recommending two excellent hexes that would just compete for the same customers next door</a:t>
            </a:r>
            <a:endParaRPr lang="en-US" sz="1350" dirty="0"/>
          </a:p>
        </p:txBody>
      </p:sp>
      <p:sp>
        <p:nvSpPr>
          <p:cNvPr id="15" name="Text 13"/>
          <p:cNvSpPr/>
          <p:nvPr/>
        </p:nvSpPr>
        <p:spPr>
          <a:xfrm>
            <a:off x="6355080" y="3108960"/>
            <a:ext cx="5120640" cy="365760"/>
          </a:xfrm>
          <a:prstGeom prst="rect">
            <a:avLst/>
          </a:prstGeom>
          <a:noFill/>
          <a:ln/>
        </p:spPr>
        <p:txBody>
          <a:bodyPr wrap="square" lIns="0" tIns="0" rIns="0" bIns="0" rtlCol="0" anchor="ctr"/>
          <a:lstStyle/>
          <a:p>
            <a:pPr indent="0" marL="0">
              <a:buNone/>
            </a:pPr>
            <a:r>
              <a:rPr lang="en-US" sz="1500" b="1" dirty="0">
                <a:solidFill>
                  <a:srgbClr val="D9A566"/>
                </a:solidFill>
                <a:latin typeface="Calibri" pitchFamily="34" charset="0"/>
                <a:ea typeface="Calibri" pitchFamily="34" charset="-122"/>
                <a:cs typeface="Calibri" pitchFamily="34" charset="-120"/>
              </a:rPr>
              <a:t>Conclusion</a:t>
            </a:r>
            <a:endParaRPr lang="en-US" sz="1500" dirty="0"/>
          </a:p>
        </p:txBody>
      </p:sp>
      <p:sp>
        <p:nvSpPr>
          <p:cNvPr id="16" name="Text 14"/>
          <p:cNvSpPr/>
          <p:nvPr/>
        </p:nvSpPr>
        <p:spPr>
          <a:xfrm>
            <a:off x="6355080" y="3520440"/>
            <a:ext cx="5285232" cy="2377440"/>
          </a:xfrm>
          <a:prstGeom prst="rect">
            <a:avLst/>
          </a:prstGeom>
          <a:noFill/>
          <a:ln/>
        </p:spPr>
        <p:txBody>
          <a:bodyPr wrap="square" rtlCol="0" anchor="t"/>
          <a:lstStyle/>
          <a:p>
            <a:pPr marL="228600" indent="-228600">
              <a:lnSpc>
                <a:spcPct val="112000"/>
              </a:lnSpc>
              <a:spcAft>
                <a:spcPts val="1400"/>
              </a:spcAft>
              <a:buSzPct val="100000"/>
              <a:buChar char="●"/>
            </a:pPr>
            <a:r>
              <a:rPr lang="en-US" sz="1350" dirty="0">
                <a:solidFill>
                  <a:srgbClr val="DCE3E8"/>
                </a:solidFill>
                <a:latin typeface="Calibri" pitchFamily="34" charset="0"/>
                <a:ea typeface="Calibri" pitchFamily="34" charset="-122"/>
                <a:cs typeface="Calibri" pitchFamily="34" charset="-120"/>
              </a:rPr>
              <a:t>A full PU-learning pipeline, built on a dataset that didn't exist before this project, now turns 3,691 hexes of raw geography into 50 ranked, explainable, GIS-verified recommendations</a:t>
            </a:r>
            <a:endParaRPr lang="en-US" sz="1350" dirty="0"/>
          </a:p>
          <a:p>
            <a:pPr marL="228600" indent="-228600">
              <a:lnSpc>
                <a:spcPct val="112000"/>
              </a:lnSpc>
              <a:spcAft>
                <a:spcPts val="1400"/>
              </a:spcAft>
              <a:buSzPct val="100000"/>
              <a:buChar char="●"/>
            </a:pPr>
            <a:r>
              <a:rPr lang="en-US" sz="1350" dirty="0">
                <a:solidFill>
                  <a:srgbClr val="DCE3E8"/>
                </a:solidFill>
                <a:latin typeface="Calibri" pitchFamily="34" charset="0"/>
                <a:ea typeface="Calibri" pitchFamily="34" charset="-122"/>
                <a:cs typeface="Calibri" pitchFamily="34" charset="-120"/>
              </a:rPr>
              <a:t>Pipeline is parameterized by bbox + CBD coordinate — portable to other cities once equivalent local sources are sourced</a:t>
            </a:r>
            <a:endParaRPr lang="en-US" sz="1350" dirty="0"/>
          </a:p>
        </p:txBody>
      </p:sp>
      <p:sp>
        <p:nvSpPr>
          <p:cNvPr id="17" name="Text 1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9FB0BC"/>
                </a:solidFill>
                <a:latin typeface="Calibri" pitchFamily="34" charset="0"/>
                <a:ea typeface="Calibri" pitchFamily="34" charset="-122"/>
                <a:cs typeface="Calibri" pitchFamily="34" charset="-120"/>
              </a:rPr>
              <a:t>GeoSpatial AI Site Selection  |  Lahore Luxury Cafes</a:t>
            </a:r>
            <a:endParaRPr lang="en-US" sz="900" dirty="0"/>
          </a:p>
        </p:txBody>
      </p:sp>
      <p:sp>
        <p:nvSpPr>
          <p:cNvPr id="18" name="Text 16"/>
          <p:cNvSpPr/>
          <p:nvPr/>
        </p:nvSpPr>
        <p:spPr>
          <a:xfrm>
            <a:off x="11365992" y="6473952"/>
            <a:ext cx="365760" cy="274320"/>
          </a:xfrm>
          <a:prstGeom prst="rect">
            <a:avLst/>
          </a:prstGeom>
          <a:noFill/>
          <a:ln/>
        </p:spPr>
        <p:txBody>
          <a:bodyPr wrap="square" lIns="0" tIns="0" rIns="0" bIns="0" rtlCol="0" anchor="ctr"/>
          <a:lstStyle/>
          <a:p>
            <a:pPr algn="r" indent="0" marL="0">
              <a:buNone/>
            </a:pPr>
            <a:r>
              <a:rPr lang="en-US" sz="900" dirty="0">
                <a:solidFill>
                  <a:srgbClr val="9FB0B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Geospatial AI Site Selection — Final Evaluation</dc:title>
  <dc:subject>PptxGenJS Presentation</dc:subject>
  <dc:creator>Abuhurairah Faheem &amp; Muhammad Ammar Bin Talib</dc:creator>
  <cp:lastModifiedBy>Abuhurairah Faheem &amp; Muhammad Ammar Bin Talib</cp:lastModifiedBy>
  <cp:revision>1</cp:revision>
  <dcterms:created xsi:type="dcterms:W3CDTF">2026-06-17T19:23:20Z</dcterms:created>
  <dcterms:modified xsi:type="dcterms:W3CDTF">2026-06-17T19:23:20Z</dcterms:modified>
</cp:coreProperties>
</file>