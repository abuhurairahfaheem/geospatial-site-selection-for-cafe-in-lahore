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 Light"/>
      <p:regular r:id="rId12"/>
      <p:bold r:id="rId13"/>
      <p:italic r:id="rId14"/>
      <p:boldItalic r:id="rId15"/>
    </p:embeddedFont>
    <p:embeddedFont>
      <p:font typeface="Inter SemiBold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Light-bold.fntdata"/><Relationship Id="rId12" Type="http://schemas.openxmlformats.org/officeDocument/2006/relationships/font" Target="fonts/InterLight-regular.fntdata"/><Relationship Id="rId15" Type="http://schemas.openxmlformats.org/officeDocument/2006/relationships/font" Target="fonts/InterLight-boldItalic.fntdata"/><Relationship Id="rId14" Type="http://schemas.openxmlformats.org/officeDocument/2006/relationships/font" Target="fonts/InterLight-italic.fntdata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3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55407" y="2718494"/>
            <a:ext cx="9481185" cy="79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Geospatial AI </a:t>
            </a:r>
            <a:r>
              <a:rPr b="1" i="0" lang="en-US" sz="57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Site Selection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743325"/>
            <a:ext cx="8572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A Production-Ready PU Learning Pipeline for Luxury Cafes in Lahore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1355400" y="4792175"/>
            <a:ext cx="93963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56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Team:</a:t>
            </a:r>
            <a:r>
              <a:rPr b="1" i="0" lang="en-US" sz="1500" u="none" cap="none" strike="noStrike">
                <a:solidFill>
                  <a:srgbClr val="D9A5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Abuhurairah Faheem (BSCS23077)   •   Muhammad Ammar Bin Talib (BSCS23143)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65450" y="3814900"/>
            <a:ext cx="5524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6437"/>
            <a:ext cx="50387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152525" y="2262187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Goal: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Transition from intuition-based to data-driven site selection for luxury cafes to maximize ROI and footfall.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152525" y="3405187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Challenge: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Finding highly profitable "Blue Ocean" locations in a rapidly saturating market, avoiding areas controlled by massive competitors.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52525" y="4548187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Solution: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machine learning pipeline that mathematically scores the socio-economic DNA of 3,691 distinct physical locations across the city.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995487"/>
            <a:ext cx="5000625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305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44805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5910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Problem Statement &amp;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Objectives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10742"/>
            <a:ext cx="3295650" cy="3447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8175" y="2610742"/>
            <a:ext cx="3295650" cy="3447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610742"/>
            <a:ext cx="3295650" cy="3447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999172" y="3820417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H3 Spatial Grid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66800" y="4296667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Mapped Lahore into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3,691 Uber H3 Hexagons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(Resolution 9) to create a standardized, un-biased spatial matrix for the AI.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75822" y="3820417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Feature Engineering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743450" y="4296667"/>
            <a:ext cx="27051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Compiled and aggregated raw geographic data from OpenStreetMap, Kontur Nighttime Population, and Graana Real Estate listings.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352472" y="3820417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IDW Imputation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20100" y="4296667"/>
            <a:ext cx="27051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Solved missing rent data in the city outskirts using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Inverse Distance Weighting (k=5)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guarantee continuous mathematical gradients.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19325" y="307746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307746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1200" y="3077467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Dataset &amp;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Preprocessing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381125" y="1676400"/>
            <a:ext cx="9429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Note: No pre-existing dataset existed for this problem. We engineered this entirely from scratch.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905000"/>
            <a:ext cx="5133975" cy="414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05000"/>
            <a:ext cx="5133975" cy="414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1609725" y="2390775"/>
            <a:ext cx="4100512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PU Learning w/ XGBoost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162050" y="2981325"/>
            <a:ext cx="4352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Approach: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Trained an XGBoost Bagging Ensemble (100 bags).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162050" y="3733800"/>
            <a:ext cx="43529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Why PU Learning?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 only have data for successful cafes (Positives). The rest of the city is Unlabeled, not strictly negative. PU Learning isolates "reliable negatives" dynamically rather than assuming empty areas are bad.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162800" y="2390775"/>
            <a:ext cx="4060507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Business Dispatch Sort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677025" y="2981325"/>
            <a:ext cx="43529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AI Limit: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Decision trees caused "Leaf Node Quantization," resulting in mathematical ties for top-tier elite locations.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77025" y="4038600"/>
            <a:ext cx="43529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Operational Fix: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Implemented a Tier-2 production layer. Tied AI probabilities are deterministically ranked by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Distance to CBD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Population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create actionable dispatch routes.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2050" y="24193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41935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Methodology &amp;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Models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100387"/>
            <a:ext cx="5038725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71525" y="4529137"/>
            <a:ext cx="5038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Actionable UI Shortlist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381750" y="1728787"/>
            <a:ext cx="52906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Moving Beyond standard PR-AUC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762750" y="2185987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Feature Importance: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Luxury Density and Rent proved to be the highest predictive drivers globally.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62750" y="3328987"/>
            <a:ext cx="46577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PU Paradox: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Our Baseline model scored a higher PR-AUC purely by memorizing known cafes. XGBoost scored lower on paper, but successfully explored entirely new "Blue Ocean" territories.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762750" y="5081587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Production Ready: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Applied strict GIS masks to prevent the AI from recommending unbuildable zones (rivers, graveyards).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2885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37185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51244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771525" y="581025"/>
            <a:ext cx="1118139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4. Results &amp;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Evaluation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771525" y="1276350"/>
            <a:ext cx="10648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005137"/>
            <a:ext cx="1064895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05301" y="1385887"/>
            <a:ext cx="11181397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5. Live Demo &amp; </a:t>
            </a:r>
            <a:r>
              <a:rPr b="1" i="0" lang="en-US" sz="5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Future Work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619750" y="2490787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609725" y="3395662"/>
            <a:ext cx="4410551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Transition to Folium Map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162050" y="3862387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Moving to the live dashboard to view the interactive Top 50 Hexagons, displaying the SHAP logic and final probabilities.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791325" y="3395662"/>
            <a:ext cx="44505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Future Upgrades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381750" y="3862387"/>
            <a:ext cx="4648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Spatial Cannibalization (NMS):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Preventing overlapping recommendations.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Temporal Dynamics: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Integrating hourly footfall data.</a:t>
            </a:r>
            <a:endParaRPr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2050" y="342423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24237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